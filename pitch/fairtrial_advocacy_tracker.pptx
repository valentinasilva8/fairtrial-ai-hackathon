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7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erif Display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  <p:embeddedFont>
      <p:font typeface="Open Sauce Bold Italics" charset="1" panose="00000800000000000000"/>
      <p:regular r:id="rId23"/>
    </p:embeddedFont>
    <p:embeddedFont>
      <p:font typeface="Formula Heavy" charset="1" panose="00000300000000000000"/>
      <p:regular r:id="rId24"/>
    </p:embeddedFont>
    <p:embeddedFont>
      <p:font typeface="Avenir" charset="1" panose="020B0503020203020204"/>
      <p:regular r:id="rId25"/>
    </p:embeddedFont>
    <p:embeddedFont>
      <p:font typeface="Open Sauce Semi-Bold" charset="1" panose="00000700000000000000"/>
      <p:regular r:id="rId26"/>
    </p:embeddedFont>
    <p:embeddedFont>
      <p:font typeface="Open Sauce Medium" charset="1" panose="00000600000000000000"/>
      <p:regular r:id="rId27"/>
    </p:embeddedFont>
    <p:embeddedFont>
      <p:font typeface="Open Sauce Heavy" charset="1" panose="00000A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3433098" y="762000"/>
            <a:ext cx="11796102" cy="488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PRECEDENT &amp;</a:t>
            </a:r>
          </a:p>
          <a:p>
            <a:pPr algn="ctr">
              <a:lnSpc>
                <a:spcPts val="19600"/>
              </a:lnSpc>
            </a:pPr>
            <a:r>
              <a:rPr lang="en-US" sz="14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PRACTICE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0543" y="5597522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HUMAN RIGHTS ADVOCACY TRACKER BUILT ON TRIALWATCH'S FAIRNESS REPORTS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61781" y="8457031"/>
            <a:ext cx="813873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TRACK 3 · ADVOCACY &amp;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6590" y="9102407"/>
            <a:ext cx="550911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HREYA · VALEN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NA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· UNGU · LAYLA · YUKI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166399" y="4215765"/>
            <a:ext cx="4073652" cy="4114800"/>
          </a:xfrm>
          <a:custGeom>
            <a:avLst/>
            <a:gdLst/>
            <a:ahLst/>
            <a:cxnLst/>
            <a:rect r="r" b="b" t="t" l="l"/>
            <a:pathLst>
              <a:path h="4114800" w="4073652">
                <a:moveTo>
                  <a:pt x="0" y="0"/>
                </a:moveTo>
                <a:lnTo>
                  <a:pt x="4073652" y="0"/>
                </a:lnTo>
                <a:lnTo>
                  <a:pt x="4073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Now?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Services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Roadmap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3003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2067775" y="3079603"/>
            <a:ext cx="5382337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TrialW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graded 63 tri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s, but 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awyer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n't fi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milar 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isions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follow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3653162"/>
            <a:ext cx="52931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7775" y="6771643"/>
            <a:ext cx="5382337" cy="221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sit in co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ecords,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NGO rep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news in sever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languages; each UN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ubmission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wri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tten by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hand.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7253608"/>
            <a:ext cx="529316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27378" y="3021429"/>
            <a:ext cx="8307875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ndone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revised it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sp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ech 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aw (2024–25)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polic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pledged to comply; 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rack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ther 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97988" y="3452592"/>
            <a:ext cx="909958" cy="9099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25406" y="355070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4777" y="862901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281322" y="9444355"/>
            <a:ext cx="1772535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TrialWatch's human rights analysis is buried in PDFs, advocacy starts from a blank page, and reforms go unmeasured.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7775" y="2648049"/>
            <a:ext cx="476619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90 reports, not searchable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7775" y="6343971"/>
            <a:ext cx="476619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Letters written from scratch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7378" y="2600424"/>
            <a:ext cx="735683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Reforms nobody measures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6077" y="3553268"/>
            <a:ext cx="909958" cy="90995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6077" y="7165024"/>
            <a:ext cx="909958" cy="90995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049" t="-1049" r="-1049" b="-1049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6399" y="2604790"/>
            <a:ext cx="5026174" cy="5912783"/>
            <a:chOff x="0" y="0"/>
            <a:chExt cx="4489517" cy="5281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51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517">
                  <a:moveTo>
                    <a:pt x="22993" y="0"/>
                  </a:moveTo>
                  <a:lnTo>
                    <a:pt x="4466525" y="0"/>
                  </a:lnTo>
                  <a:cubicBezTo>
                    <a:pt x="4479223" y="0"/>
                    <a:pt x="4489517" y="10294"/>
                    <a:pt x="4489517" y="22993"/>
                  </a:cubicBezTo>
                  <a:lnTo>
                    <a:pt x="4489517" y="5258469"/>
                  </a:lnTo>
                  <a:cubicBezTo>
                    <a:pt x="4489517" y="5271167"/>
                    <a:pt x="4479223" y="5281461"/>
                    <a:pt x="4466525" y="5281461"/>
                  </a:cubicBezTo>
                  <a:lnTo>
                    <a:pt x="22993" y="5281461"/>
                  </a:lnTo>
                  <a:cubicBezTo>
                    <a:pt x="10294" y="5281461"/>
                    <a:pt x="0" y="5271167"/>
                    <a:pt x="0" y="5258469"/>
                  </a:cubicBezTo>
                  <a:lnTo>
                    <a:pt x="0" y="22993"/>
                  </a:lnTo>
                  <a:cubicBezTo>
                    <a:pt x="0" y="10294"/>
                    <a:pt x="10294" y="0"/>
                    <a:pt x="2299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51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630723" y="2604790"/>
            <a:ext cx="5026555" cy="5912783"/>
            <a:chOff x="0" y="0"/>
            <a:chExt cx="4489857" cy="5281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258471"/>
                  </a:lnTo>
                  <a:cubicBezTo>
                    <a:pt x="4489857" y="5271168"/>
                    <a:pt x="4479564" y="5281461"/>
                    <a:pt x="4466866" y="5281461"/>
                  </a:cubicBezTo>
                  <a:lnTo>
                    <a:pt x="22991" y="5281461"/>
                  </a:lnTo>
                  <a:cubicBezTo>
                    <a:pt x="10293" y="5281461"/>
                    <a:pt x="0" y="5271168"/>
                    <a:pt x="0" y="5258471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2604790"/>
            <a:ext cx="5026555" cy="5912783"/>
            <a:chOff x="0" y="0"/>
            <a:chExt cx="4489857" cy="5281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258471"/>
                  </a:lnTo>
                  <a:cubicBezTo>
                    <a:pt x="4489857" y="5271168"/>
                    <a:pt x="4479564" y="5281461"/>
                    <a:pt x="4466866" y="5281461"/>
                  </a:cubicBezTo>
                  <a:lnTo>
                    <a:pt x="22991" y="5281461"/>
                  </a:lnTo>
                  <a:cubicBezTo>
                    <a:pt x="10293" y="5281461"/>
                    <a:pt x="0" y="5271168"/>
                    <a:pt x="0" y="5258471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9971" y="3858477"/>
            <a:ext cx="3899029" cy="442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8"/>
              </a:lnSpc>
            </a:pPr>
            <a:r>
              <a:rPr lang="en-US" sz="246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47 TrialWatch trials in 23 countries. For any case: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 close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 tr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ls, good outcome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first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and their argument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legality, vagu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eness, broadness, necessity a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p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roportionality, with a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utho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page.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5583" y="4845981"/>
            <a:ext cx="4276833" cy="343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6"/>
              </a:lnSpc>
            </a:pPr>
            <a:r>
              <a:rPr lang="en-US" sz="24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Special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Rapporteur submission where 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sen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tence cites its source, quotes a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checked wo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word, and a lawyer approves.</a:t>
            </a:r>
          </a:p>
          <a:p>
            <a:pPr algn="ctr" marL="0" indent="0" lvl="0">
              <a:lnSpc>
                <a:spcPts val="393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466902" y="4845981"/>
            <a:ext cx="4276833" cy="294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6"/>
              </a:lnSpc>
            </a:pPr>
            <a:r>
              <a:rPr lang="en-US" sz="24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Where a 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law just changed: 5 of 13 past Indonesian cases would likely be barred today 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(3–9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acr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oss legal readings).</a:t>
            </a:r>
          </a:p>
          <a:p>
            <a:pPr algn="ctr" marL="0" indent="0" lvl="0">
              <a:lnSpc>
                <a:spcPts val="3936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14754" y="3001227"/>
            <a:ext cx="1683382" cy="1683382"/>
          </a:xfrm>
          <a:custGeom>
            <a:avLst/>
            <a:gdLst/>
            <a:ahLst/>
            <a:cxnLst/>
            <a:rect r="r" b="b" t="t" l="l"/>
            <a:pathLst>
              <a:path h="1683382" w="1683382">
                <a:moveTo>
                  <a:pt x="0" y="0"/>
                </a:moveTo>
                <a:lnTo>
                  <a:pt x="1683382" y="0"/>
                </a:lnTo>
                <a:lnTo>
                  <a:pt x="1683382" y="1683382"/>
                </a:lnTo>
                <a:lnTo>
                  <a:pt x="0" y="1683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2891637" y="2745983"/>
            <a:ext cx="1047750" cy="1047750"/>
          </a:xfrm>
          <a:custGeom>
            <a:avLst/>
            <a:gdLst/>
            <a:ahLst/>
            <a:cxnLst/>
            <a:rect r="r" b="b" t="t" l="l"/>
            <a:pathLst>
              <a:path h="1047750" w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4108262" y="3453664"/>
            <a:ext cx="1000125" cy="1000125"/>
          </a:xfrm>
          <a:custGeom>
            <a:avLst/>
            <a:gdLst/>
            <a:ahLst/>
            <a:cxnLst/>
            <a:rect r="r" b="b" t="t" l="l"/>
            <a:pathLst>
              <a:path h="1000125" w="1000125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66119">
            <a:off x="-3457675" y="7234704"/>
            <a:ext cx="18288000" cy="7666282"/>
          </a:xfrm>
          <a:custGeom>
            <a:avLst/>
            <a:gdLst/>
            <a:ahLst/>
            <a:cxnLst/>
            <a:rect r="r" b="b" t="t" l="l"/>
            <a:pathLst>
              <a:path h="7666282" w="18288000">
                <a:moveTo>
                  <a:pt x="0" y="0"/>
                </a:moveTo>
                <a:lnTo>
                  <a:pt x="18288000" y="0"/>
                </a:lnTo>
                <a:lnTo>
                  <a:pt x="18288000" y="7666282"/>
                </a:lnTo>
                <a:lnTo>
                  <a:pt x="0" y="766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-5400000">
            <a:off x="16076393" y="-1522092"/>
            <a:ext cx="1628904" cy="4000298"/>
          </a:xfrm>
          <a:custGeom>
            <a:avLst/>
            <a:gdLst/>
            <a:ahLst/>
            <a:cxnLst/>
            <a:rect r="r" b="b" t="t" l="l"/>
            <a:pathLst>
              <a:path h="4000298" w="1628904">
                <a:moveTo>
                  <a:pt x="0" y="0"/>
                </a:moveTo>
                <a:lnTo>
                  <a:pt x="1628905" y="0"/>
                </a:lnTo>
                <a:lnTo>
                  <a:pt x="1628905" y="4000298"/>
                </a:lnTo>
                <a:lnTo>
                  <a:pt x="0" y="4000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583758"/>
            <a:ext cx="844473" cy="674542"/>
          </a:xfrm>
          <a:custGeom>
            <a:avLst/>
            <a:gdLst/>
            <a:ahLst/>
            <a:cxnLst/>
            <a:rect r="r" b="b" t="t" l="l"/>
            <a:pathLst>
              <a:path h="674542" w="844473">
                <a:moveTo>
                  <a:pt x="0" y="0"/>
                </a:moveTo>
                <a:lnTo>
                  <a:pt x="844473" y="0"/>
                </a:lnTo>
                <a:lnTo>
                  <a:pt x="844473" y="674542"/>
                </a:lnTo>
                <a:lnTo>
                  <a:pt x="0" y="674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5400000">
            <a:off x="7190400" y="6987944"/>
            <a:ext cx="3907200" cy="6598113"/>
          </a:xfrm>
          <a:custGeom>
            <a:avLst/>
            <a:gdLst/>
            <a:ahLst/>
            <a:cxnLst/>
            <a:rect r="r" b="b" t="t" l="l"/>
            <a:pathLst>
              <a:path h="6598113" w="3907200">
                <a:moveTo>
                  <a:pt x="0" y="0"/>
                </a:moveTo>
                <a:lnTo>
                  <a:pt x="3907200" y="0"/>
                </a:lnTo>
                <a:lnTo>
                  <a:pt x="3907200" y="6598112"/>
                </a:lnTo>
                <a:lnTo>
                  <a:pt x="0" y="6598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76851" y="-1940433"/>
            <a:ext cx="2211103" cy="4419400"/>
          </a:xfrm>
          <a:custGeom>
            <a:avLst/>
            <a:gdLst/>
            <a:ahLst/>
            <a:cxnLst/>
            <a:rect r="r" b="b" t="t" l="l"/>
            <a:pathLst>
              <a:path h="4419400" w="2211103">
                <a:moveTo>
                  <a:pt x="0" y="0"/>
                </a:moveTo>
                <a:lnTo>
                  <a:pt x="2211102" y="0"/>
                </a:lnTo>
                <a:lnTo>
                  <a:pt x="2211102" y="4419399"/>
                </a:lnTo>
                <a:lnTo>
                  <a:pt x="0" y="4419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-384597">
            <a:off x="12292235" y="5730808"/>
            <a:ext cx="5695058" cy="5705900"/>
          </a:xfrm>
          <a:custGeom>
            <a:avLst/>
            <a:gdLst/>
            <a:ahLst/>
            <a:cxnLst/>
            <a:rect r="r" b="b" t="t" l="l"/>
            <a:pathLst>
              <a:path h="5705900" w="5695058">
                <a:moveTo>
                  <a:pt x="0" y="0"/>
                </a:moveTo>
                <a:lnTo>
                  <a:pt x="5695058" y="0"/>
                </a:lnTo>
                <a:lnTo>
                  <a:pt x="5695058" y="5705900"/>
                </a:lnTo>
                <a:lnTo>
                  <a:pt x="0" y="5705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2113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382725" y="2454240"/>
            <a:ext cx="16035890" cy="141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5"/>
              </a:lnSpc>
            </a:pPr>
            <a:r>
              <a:rPr lang="en-US" sz="10922" b="true">
                <a:solidFill>
                  <a:srgbClr val="FFFFFF"/>
                </a:solidFill>
                <a:latin typeface="Formula Heavy"/>
                <a:ea typeface="Formula Heavy"/>
                <a:cs typeface="Formula Heavy"/>
                <a:sym typeface="Formula Heavy"/>
              </a:rPr>
              <a:t>WHY NOW? HUMAN</a:t>
            </a:r>
            <a:r>
              <a:rPr lang="en-US" b="true" sz="10922">
                <a:solidFill>
                  <a:srgbClr val="FFFFFF"/>
                </a:solidFill>
                <a:latin typeface="Formula Heavy"/>
                <a:ea typeface="Formula Heavy"/>
                <a:cs typeface="Formula Heavy"/>
                <a:sym typeface="Formula Heavy"/>
              </a:rPr>
              <a:t> RIGHTS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710" y="3998245"/>
            <a:ext cx="1689890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B</a:t>
            </a: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ehind each row is a person. Laras Faizati Khairunnisa shared an Instagram Story about a police headquarters during the August 2025 unrest and was convicted in January 2026, receiving six months of supervision rather than prison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33751" y="6541339"/>
            <a:ext cx="950417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Fatia &amp; Haris spent about 3 years under prosecution for discussing a human rights report.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049" t="-1049" r="-1049" b="-1049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6399" y="2604790"/>
            <a:ext cx="5026174" cy="5912783"/>
            <a:chOff x="0" y="0"/>
            <a:chExt cx="4489517" cy="5281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51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517">
                  <a:moveTo>
                    <a:pt x="22993" y="0"/>
                  </a:moveTo>
                  <a:lnTo>
                    <a:pt x="4466525" y="0"/>
                  </a:lnTo>
                  <a:cubicBezTo>
                    <a:pt x="4479223" y="0"/>
                    <a:pt x="4489517" y="10294"/>
                    <a:pt x="4489517" y="22993"/>
                  </a:cubicBezTo>
                  <a:lnTo>
                    <a:pt x="4489517" y="5258469"/>
                  </a:lnTo>
                  <a:cubicBezTo>
                    <a:pt x="4489517" y="5271167"/>
                    <a:pt x="4479223" y="5281461"/>
                    <a:pt x="4466525" y="5281461"/>
                  </a:cubicBezTo>
                  <a:lnTo>
                    <a:pt x="22993" y="5281461"/>
                  </a:lnTo>
                  <a:cubicBezTo>
                    <a:pt x="10294" y="5281461"/>
                    <a:pt x="0" y="5271167"/>
                    <a:pt x="0" y="5258469"/>
                  </a:cubicBezTo>
                  <a:lnTo>
                    <a:pt x="0" y="22993"/>
                  </a:lnTo>
                  <a:cubicBezTo>
                    <a:pt x="0" y="10294"/>
                    <a:pt x="10294" y="0"/>
                    <a:pt x="22993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51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630723" y="2604790"/>
            <a:ext cx="5026555" cy="5912783"/>
            <a:chOff x="0" y="0"/>
            <a:chExt cx="4489857" cy="5281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258471"/>
                  </a:lnTo>
                  <a:cubicBezTo>
                    <a:pt x="4489857" y="5271168"/>
                    <a:pt x="4479564" y="5281461"/>
                    <a:pt x="4466866" y="5281461"/>
                  </a:cubicBezTo>
                  <a:lnTo>
                    <a:pt x="22991" y="5281461"/>
                  </a:lnTo>
                  <a:cubicBezTo>
                    <a:pt x="10293" y="5281461"/>
                    <a:pt x="0" y="5271168"/>
                    <a:pt x="0" y="5258471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2604790"/>
            <a:ext cx="5026555" cy="5912783"/>
            <a:chOff x="0" y="0"/>
            <a:chExt cx="4489857" cy="5281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5281461"/>
            </a:xfrm>
            <a:custGeom>
              <a:avLst/>
              <a:gdLst/>
              <a:ahLst/>
              <a:cxnLst/>
              <a:rect r="r" b="b" t="t" l="l"/>
              <a:pathLst>
                <a:path h="5281461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258471"/>
                  </a:lnTo>
                  <a:cubicBezTo>
                    <a:pt x="4489857" y="5271168"/>
                    <a:pt x="4479564" y="5281461"/>
                    <a:pt x="4466866" y="5281461"/>
                  </a:cubicBezTo>
                  <a:lnTo>
                    <a:pt x="22991" y="5281461"/>
                  </a:lnTo>
                  <a:cubicBezTo>
                    <a:pt x="10293" y="5281461"/>
                    <a:pt x="0" y="5271168"/>
                    <a:pt x="0" y="5258471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53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6399" y="1233825"/>
            <a:ext cx="691075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It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9971" y="3858477"/>
            <a:ext cx="3899029" cy="442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8"/>
              </a:lnSpc>
            </a:pPr>
            <a:r>
              <a:rPr lang="en-US" sz="246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Pick a case or describe a new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one; 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atches say why</a:t>
            </a:r>
          </a:p>
          <a:p>
            <a:pPr algn="ctr" marL="0" indent="0" lvl="0">
              <a:lnSpc>
                <a:spcPts val="3938"/>
              </a:lnSpc>
            </a:pP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Arguments 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oupe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b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 labels, with author and p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age</a:t>
            </a:r>
          </a:p>
          <a:p>
            <a:pPr algn="ctr" marL="0" indent="0" lvl="0">
              <a:lnSpc>
                <a:spcPts val="3938"/>
              </a:lnSpc>
            </a:pP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od outcomes first, each confirmed with a so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6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76778" y="3858477"/>
            <a:ext cx="4334063" cy="343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6"/>
              </a:lnSpc>
            </a:pPr>
            <a:r>
              <a:rPr lang="en-US" sz="24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Rules R1–R4 run as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transparent code, no AI</a:t>
            </a:r>
          </a:p>
          <a:p>
            <a:pPr algn="ctr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Sensitivity analysis: 10 legal readings, 3–9 of 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13</a:t>
            </a:r>
          </a:p>
          <a:p>
            <a:pPr algn="ctr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 a news story: Gemini suggests inputs with checked quotes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8327" y="3858477"/>
            <a:ext cx="4276833" cy="393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6"/>
              </a:lnSpc>
            </a:pPr>
            <a:r>
              <a:rPr lang="en-US" sz="24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Letter built on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ly from numbered sources</a:t>
            </a:r>
          </a:p>
          <a:p>
            <a:pPr algn="ctr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Code rejects uncited sentences and invented quotes</a:t>
            </a:r>
          </a:p>
          <a:p>
            <a:pPr algn="ctr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second check fla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6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weak sentences; a named lawyer approves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68232" y="3059434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35298" y="3059434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70974" y="3059434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049" t="-1049" r="-1049" b="-1049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94044" y="-114300"/>
            <a:ext cx="529991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Product 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434775" y="509874"/>
            <a:ext cx="6541284" cy="81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>
                <a:solidFill>
                  <a:srgbClr val="0B0B0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SERVICE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882" y="1474318"/>
            <a:ext cx="11530509" cy="7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AI is used in two places only: suggesting case facts from a news story, and drafting the letter. Both are checked by code against the sources, then approved by a person.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4000" y="3638550"/>
            <a:ext cx="3486150" cy="4076700"/>
          </a:xfrm>
          <a:custGeom>
            <a:avLst/>
            <a:gdLst/>
            <a:ahLst/>
            <a:cxnLst/>
            <a:rect r="r" b="b" t="t" l="l"/>
            <a:pathLst>
              <a:path h="4076700" w="3486150">
                <a:moveTo>
                  <a:pt x="0" y="0"/>
                </a:moveTo>
                <a:lnTo>
                  <a:pt x="3486150" y="0"/>
                </a:lnTo>
                <a:lnTo>
                  <a:pt x="34861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047189" y="3063646"/>
            <a:ext cx="1556909" cy="5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 b="true">
                <a:solidFill>
                  <a:srgbClr val="0B0B0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4856" y="3749713"/>
            <a:ext cx="2790163" cy="12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2222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TrialWatch reports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96 cfj.org listings, 94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PDFs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572000" y="3638550"/>
            <a:ext cx="6972300" cy="4076700"/>
          </a:xfrm>
          <a:custGeom>
            <a:avLst/>
            <a:gdLst/>
            <a:ahLst/>
            <a:cxnLst/>
            <a:rect r="r" b="b" t="t" l="l"/>
            <a:pathLst>
              <a:path h="4076700" w="6972300">
                <a:moveTo>
                  <a:pt x="0" y="0"/>
                </a:moveTo>
                <a:lnTo>
                  <a:pt x="6972300" y="0"/>
                </a:lnTo>
                <a:lnTo>
                  <a:pt x="6972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7698816" y="3063646"/>
            <a:ext cx="1643427" cy="5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 b="true">
                <a:solidFill>
                  <a:srgbClr val="0B0B0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92083" y="3689438"/>
            <a:ext cx="3032358" cy="12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2222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People confirm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47/47 outcomes • 288 impact sentences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096625" y="3638550"/>
            <a:ext cx="3276600" cy="4076700"/>
          </a:xfrm>
          <a:custGeom>
            <a:avLst/>
            <a:gdLst/>
            <a:ahLst/>
            <a:cxnLst/>
            <a:rect r="r" b="b" t="t" l="l"/>
            <a:pathLst>
              <a:path h="4076700" w="3276600">
                <a:moveTo>
                  <a:pt x="0" y="0"/>
                </a:moveTo>
                <a:lnTo>
                  <a:pt x="3276600" y="0"/>
                </a:lnTo>
                <a:lnTo>
                  <a:pt x="32766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4422895" y="3063646"/>
            <a:ext cx="1640967" cy="5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 b="true">
                <a:solidFill>
                  <a:srgbClr val="0B0B0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06545" y="3689438"/>
            <a:ext cx="3275919" cy="12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2222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Sourced UN letter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citation check • support check • lawyer approves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3912" y="7026753"/>
            <a:ext cx="1637687" cy="5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 b="true">
                <a:solidFill>
                  <a:srgbClr val="0B0B0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34660" y="7788164"/>
            <a:ext cx="3562945" cy="16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047" b="true">
                <a:solidFill>
                  <a:srgbClr val="22222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Parse, no AI</a:t>
            </a:r>
          </a:p>
          <a:p>
            <a:pPr algn="just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63 grades • 47 authors • 2,381 arguments • 154 UN decisions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10080" y="7026753"/>
            <a:ext cx="1637277" cy="58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3102" b="true">
                <a:solidFill>
                  <a:srgbClr val="0B0B0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95069" y="7788164"/>
            <a:ext cx="3138421" cy="12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2222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Match current case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stress test + closest</a:t>
            </a:r>
          </a:p>
          <a:p>
            <a:pPr algn="l">
              <a:lnSpc>
                <a:spcPts val="3275"/>
              </a:lnSpc>
            </a:pPr>
            <a:r>
              <a:rPr lang="en-US" sz="2047">
                <a:solidFill>
                  <a:srgbClr val="222222"/>
                </a:solidFill>
                <a:latin typeface="Open Sauce"/>
                <a:ea typeface="Open Sauce"/>
                <a:cs typeface="Open Sauce"/>
                <a:sym typeface="Open Sauce"/>
              </a:rPr>
              <a:t>past trials, with reasons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77109" y="9133945"/>
            <a:ext cx="223421" cy="28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74"/>
              </a:lnSpc>
            </a:pPr>
            <a:r>
              <a:rPr lang="en-US" sz="1546" b="true">
                <a:solidFill>
                  <a:srgbClr val="222222">
                    <a:alpha val="4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07818" y="1924030"/>
            <a:ext cx="5895474" cy="3224936"/>
          </a:xfrm>
          <a:custGeom>
            <a:avLst/>
            <a:gdLst/>
            <a:ahLst/>
            <a:cxnLst/>
            <a:rect r="r" b="b" t="t" l="l"/>
            <a:pathLst>
              <a:path h="3224936" w="5895474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21535" y="780360"/>
            <a:ext cx="12140256" cy="77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5"/>
              </a:lnSpc>
            </a:pPr>
            <a:r>
              <a:rPr lang="en-US" b="true" sz="5211" spc="-104">
                <a:solidFill>
                  <a:srgbClr val="440F0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WHY TRIALWATCH LAWYERS USE 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9097" y="2946480"/>
            <a:ext cx="3052759" cy="120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0"/>
              </a:lnSpc>
            </a:pPr>
            <a:r>
              <a:rPr lang="en-US" b="true" sz="3755" spc="-75">
                <a:solidFill>
                  <a:srgbClr val="440F0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TrialWatch</a:t>
            </a:r>
          </a:p>
          <a:p>
            <a:pPr algn="ctr">
              <a:lnSpc>
                <a:spcPts val="4880"/>
              </a:lnSpc>
            </a:pPr>
            <a:r>
              <a:rPr lang="en-US" b="true" sz="3755" spc="-75">
                <a:solidFill>
                  <a:srgbClr val="440F0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legal monitor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6165" y="2384547"/>
            <a:ext cx="2853070" cy="36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Our user (illustrative)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85166" y="3123142"/>
            <a:ext cx="4952911" cy="110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642F2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Reviews new speech prosecutions and drafts UN submissions under time pressure.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21107" y="2384547"/>
            <a:ext cx="718231" cy="36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Goal: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965952" y="2776725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2007994" y="2748294"/>
            <a:ext cx="4944335" cy="147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642F2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“Show me how we argued a case like this, what happened, and give me a draft I can check.”</a:t>
            </a:r>
          </a:p>
          <a:p>
            <a:pPr algn="l">
              <a:lnSpc>
                <a:spcPts val="307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26822" y="5231046"/>
            <a:ext cx="895912" cy="36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Needs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6261" y="6029885"/>
            <a:ext cx="4952075" cy="110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642F2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Find precedent fast, cite TrialWatch’s own findings, act the day a complaint is filed.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19546" y="5231046"/>
            <a:ext cx="1514959" cy="36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Pain 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5009" y="6029270"/>
            <a:ext cx="4968652" cy="7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90 reports to read, sources in several languages, letters from scratch.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7994" y="6029884"/>
            <a:ext cx="4708450" cy="110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40" b="true">
                <a:solidFill>
                  <a:srgbClr val="642F2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Minutes, not a day: closest cases, arguments with page links, a sourced draft to approve.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26574" y="7925691"/>
            <a:ext cx="1760986" cy="1727254"/>
          </a:xfrm>
          <a:custGeom>
            <a:avLst/>
            <a:gdLst/>
            <a:ahLst/>
            <a:cxnLst/>
            <a:rect r="r" b="b" t="t" l="l"/>
            <a:pathLst>
              <a:path h="1727254" w="1760986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864086" y="8352038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293153" y="8259710"/>
            <a:ext cx="1070609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b="true" sz="2759" spc="-55">
                <a:solidFill>
                  <a:srgbClr val="440F0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EASY: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11110" y="7925691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6529866" y="8352038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1" id="21"/>
          <p:cNvSpPr txBox="true"/>
          <p:nvPr/>
        </p:nvSpPr>
        <p:spPr>
          <a:xfrm rot="0">
            <a:off x="8120864" y="8063919"/>
            <a:ext cx="2301143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b="true" sz="2759" spc="-55">
                <a:solidFill>
                  <a:srgbClr val="440F0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CHECKABLE: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18029" y="8630862"/>
            <a:ext cx="2584576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642F2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every claim links to its page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65952" y="7925691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12403464" y="8352038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5" id="25"/>
          <p:cNvSpPr txBox="true"/>
          <p:nvPr/>
        </p:nvSpPr>
        <p:spPr>
          <a:xfrm rot="0">
            <a:off x="13778634" y="7928371"/>
            <a:ext cx="1773290" cy="49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b="true" sz="2759" spc="-55">
                <a:solidFill>
                  <a:srgbClr val="440F0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SPECIFIC: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77280" y="8399525"/>
            <a:ext cx="1908724" cy="131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48" b="true">
                <a:solidFill>
                  <a:srgbClr val="642F2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built from</a:t>
            </a:r>
          </a:p>
          <a:p>
            <a:pPr algn="l">
              <a:lnSpc>
                <a:spcPts val="3599"/>
              </a:lnSpc>
            </a:pPr>
            <a:r>
              <a:rPr lang="en-US" sz="2399" spc="-48" b="true">
                <a:solidFill>
                  <a:srgbClr val="642F2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TrialWatch’s</a:t>
            </a:r>
          </a:p>
          <a:p>
            <a:pPr algn="l">
              <a:lnSpc>
                <a:spcPts val="3599"/>
              </a:lnSpc>
            </a:pPr>
            <a:r>
              <a:rPr lang="en-US" sz="2399" spc="-48" b="true">
                <a:solidFill>
                  <a:srgbClr val="642F2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own reports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77071" y="8846239"/>
            <a:ext cx="2678862" cy="39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642F2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web app, no install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10586" y="5231046"/>
            <a:ext cx="1770305" cy="36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42" b="true">
                <a:solidFill>
                  <a:srgbClr val="642F2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How we help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RESPONSIBLE AI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AI w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 will do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4852373"/>
            <a:ext cx="4843133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Stress t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est, par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sing,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and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are 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ain, tes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code. AI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ly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ests inputs and drafts letters.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Every claim has a 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rce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22434" y="4852373"/>
            <a:ext cx="4843133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Quotes checked word for word; uncited sente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nces reje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cted; each argument credited to its report's author; a person approves.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and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278469" y="4852373"/>
            <a:ext cx="4843133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predictions: “fo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owed”, never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“caus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”.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2 at-r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eople hid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never sent to AI. Onl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cited excerpts 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blish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© CFJ.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VALIDATION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rc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 check out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4852373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2,381 / 2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,381 ar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guments on the page they cite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288 / 288 impact sentences on the page they cite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Authors for 47 / 47 reports, each with its source sentence</a:t>
            </a:r>
          </a:p>
          <a:p>
            <a:pPr algn="l">
              <a:lnSpc>
                <a:spcPts val="2880"/>
              </a:lnSpc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=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People confirmed the data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22434" y="4852373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47 / 47 TrialWatch outcomes confirmed with a source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14 of 16 Indonesia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cases si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gned off by a teammate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know our limits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278469" y="4852373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Headline 5 of 13; 3–9 across 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legal 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eadings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Argu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 categori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about 75–80% right in 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ead sample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168 automated tests on every change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66399" y="2799790"/>
          <a:ext cx="15453593" cy="5803953"/>
        </p:xfrm>
        <a:graphic>
          <a:graphicData uri="http://schemas.openxmlformats.org/drawingml/2006/table">
            <a:tbl>
              <a:tblPr/>
              <a:tblGrid>
                <a:gridCol w="5151198"/>
                <a:gridCol w="5151198"/>
                <a:gridCol w="5151198"/>
              </a:tblGrid>
              <a:tr h="1295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Today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With TrialWatch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Next reform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295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DEMO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&amp; HANDOVER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LAWYER REVIEW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SCALE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23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Live app, open-source rep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 and written guide. Every number here recomputed from the data.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Confirm rules R1–R4 and the argument categories with TrialWatch lawyers; add the 73-case Indonesia dataset.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Swap the rules file for the next country's reform; add a live news intake that feeds a review queue.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 STEPS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MEET THE TEAM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5787015"/>
            <a:ext cx="2272954" cy="24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ule engine, sensitivity analysis, Argument Bank, UN letter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69246" y="2905145"/>
            <a:ext cx="2272954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Shreya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ress test &amp; A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rgument Ba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nk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44624" y="5787015"/>
            <a:ext cx="1958445" cy="249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Confirmed all 47 TrialWatch o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utcomes, each with a source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48328" y="2905145"/>
            <a:ext cx="1901261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Valentina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App &amp; 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case data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512538" y="2905145"/>
            <a:ext cx="2644647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Ungu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</a:t>
            </a: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research &amp; impacts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848328" y="5787015"/>
            <a:ext cx="2387321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epository, case tracker page, case verification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372411" y="2915901"/>
            <a:ext cx="2701830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Yuki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Outcome che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cks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712681" y="5787015"/>
            <a:ext cx="2244362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Indonesian case verification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impact categories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905655" y="2905145"/>
            <a:ext cx="2644647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Layla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</a:t>
            </a: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ata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lead &amp; pitch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905655" y="5787015"/>
            <a:ext cx="2244362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Meila &amp; Asrul cases, sensitive-case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review, slides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DAHXn1FiQr0</dc:identifier>
  <dcterms:modified xsi:type="dcterms:W3CDTF">2011-08-01T06:04:30Z</dcterms:modified>
  <cp:revision>1</cp:revision>
  <dc:title>Fradel and Spies Co</dc:title>
</cp:coreProperties>
</file>