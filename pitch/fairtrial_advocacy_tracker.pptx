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7.svg" ContentType="image/svg+xml"/>
  <Override PartName="/ppt/media/image5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DM Serif Display" charset="1" panose="00000000000000000000"/>
      <p:regular r:id="rId20"/>
    </p:embeddedFont>
    <p:embeddedFont>
      <p:font typeface="Open Sauce" charset="1" panose="00000500000000000000"/>
      <p:regular r:id="rId21"/>
    </p:embeddedFont>
    <p:embeddedFont>
      <p:font typeface="Open Sauce Bold" charset="1" panose="00000800000000000000"/>
      <p:regular r:id="rId22"/>
    </p:embeddedFont>
    <p:embeddedFont>
      <p:font typeface="Open Sauce Bold Italics" charset="1" panose="00000800000000000000"/>
      <p:regular r:id="rId23"/>
    </p:embeddedFont>
    <p:embeddedFont>
      <p:font typeface="Formula Heavy" charset="1" panose="00000300000000000000"/>
      <p:regular r:id="rId24"/>
    </p:embeddedFont>
    <p:embeddedFont>
      <p:font typeface="Avenir" charset="1" panose="020B0503020203020204"/>
      <p:regular r:id="rId25"/>
    </p:embeddedFont>
    <p:embeddedFont>
      <p:font typeface="Open Sauce Semi-Bold" charset="1" panose="00000700000000000000"/>
      <p:regular r:id="rId26"/>
    </p:embeddedFont>
    <p:embeddedFont>
      <p:font typeface="Open Sauce Medium" charset="1" panose="00000600000000000000"/>
      <p:regular r:id="rId27"/>
    </p:embeddedFont>
    <p:embeddedFont>
      <p:font typeface="Open Sauce Heavy" charset="1" panose="00000A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Relationship Id="rId27" Type="http://schemas.openxmlformats.org/officeDocument/2006/relationships/font" Target="fonts/font27.fntdata"/><Relationship Id="rId28" Type="http://schemas.openxmlformats.org/officeDocument/2006/relationships/font" Target="fonts/font2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6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3433098" y="762000"/>
            <a:ext cx="11796102" cy="4883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00"/>
              </a:lnSpc>
            </a:pPr>
            <a:r>
              <a:rPr lang="en-US" sz="140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PRECEDENT &amp;</a:t>
            </a:r>
          </a:p>
          <a:p>
            <a:pPr algn="ctr">
              <a:lnSpc>
                <a:spcPts val="19600"/>
              </a:lnSpc>
            </a:pPr>
            <a:r>
              <a:rPr lang="en-US" sz="140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PRACTICE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180543" y="5597522"/>
            <a:ext cx="9926914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HUMAN RIGHTS ADVOCACY TRACKER BUILT ON TRIALWATCH'S FAIRNESS REPORTS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261781" y="8457031"/>
            <a:ext cx="8138737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TRACK 3 · ADVOCACY &amp; IMPACT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576590" y="9102407"/>
            <a:ext cx="5509119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HREYA · VALEN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TI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NA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66399" y="4215765"/>
            <a:ext cx="4073652" cy="4114800"/>
          </a:xfrm>
          <a:custGeom>
            <a:avLst/>
            <a:gdLst/>
            <a:ahLst/>
            <a:cxnLst/>
            <a:rect r="r" b="b" t="t" l="l"/>
            <a:pathLst>
              <a:path h="4114800" w="4073652">
                <a:moveTo>
                  <a:pt x="0" y="0"/>
                </a:moveTo>
                <a:lnTo>
                  <a:pt x="4073652" y="0"/>
                </a:lnTo>
                <a:lnTo>
                  <a:pt x="407365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166399" y="1233825"/>
            <a:ext cx="3822789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Table of Contents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13003" y="3393172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Problem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13003" y="2801683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167282" y="3393172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Solution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167282" y="2801683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721560" y="3393172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Why Now?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721560" y="2801683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5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613003" y="5571356"/>
            <a:ext cx="2537740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Services Overview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613003" y="4979867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167282" y="5571356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Demo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167282" y="4979867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7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721560" y="5571356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Roadmap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721560" y="4979867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8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13003" y="8235315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Team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613003" y="7643826"/>
            <a:ext cx="253774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9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2067775" y="3079603"/>
            <a:ext cx="5382337" cy="278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9"/>
              </a:lnSpc>
            </a:pPr>
            <a:r>
              <a:rPr lang="en-US" sz="27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TrialW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tch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graded 63 tri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al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s, but a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awyer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n't fi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ow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milar ca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wa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rg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d,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which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UN d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ec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isions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appli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d,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w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follow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66399" y="3653162"/>
            <a:ext cx="529316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67775" y="6771643"/>
            <a:ext cx="5382337" cy="2219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9"/>
              </a:lnSpc>
            </a:pPr>
            <a:r>
              <a:rPr lang="en-US" sz="27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act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sit in co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ecords,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NGO rep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 news in sever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al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languages; each UN 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ubmission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is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wri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tten by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hand.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66399" y="7253608"/>
            <a:ext cx="529316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727378" y="3021429"/>
            <a:ext cx="8307875" cy="1657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9"/>
              </a:lnSpc>
            </a:pPr>
            <a:r>
              <a:rPr lang="en-US" sz="279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ndone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revised it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sp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ech l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aw (2024–25) a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polic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 pledged to comply; n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o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ne t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rack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whe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ther p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ros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cu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ti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ons 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799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top.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497988" y="3452592"/>
            <a:ext cx="909958" cy="909958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8525406" y="3550702"/>
            <a:ext cx="817023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66399" y="1233825"/>
            <a:ext cx="3822789" cy="1085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Problem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584777" y="862901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3</a:t>
            </a:r>
          </a:p>
        </p:txBody>
      </p:sp>
      <p:sp>
        <p:nvSpPr>
          <p:cNvPr name="AutoShape 14" id="14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281322" y="9444355"/>
            <a:ext cx="17725355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b="true" sz="2400" i="true">
                <a:solidFill>
                  <a:srgbClr val="000000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TrialWatch's human rights analysis is buried in PDFs, advocacy starts from a blank page, and reforms go unmeasured.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067775" y="2648049"/>
            <a:ext cx="4766197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90 reports, not searchable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067775" y="6343971"/>
            <a:ext cx="4766197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Letters written from scratch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727378" y="2600424"/>
            <a:ext cx="7356835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Reforms nobody measures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76077" y="3553268"/>
            <a:ext cx="909958" cy="909958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76077" y="7165024"/>
            <a:ext cx="909958" cy="909958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24" id="2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-1049" t="-1049" r="-1049" b="-1049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1166399" y="2604790"/>
            <a:ext cx="5026174" cy="5912783"/>
            <a:chOff x="0" y="0"/>
            <a:chExt cx="4489517" cy="528146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8951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517">
                  <a:moveTo>
                    <a:pt x="22993" y="0"/>
                  </a:moveTo>
                  <a:lnTo>
                    <a:pt x="4466525" y="0"/>
                  </a:lnTo>
                  <a:cubicBezTo>
                    <a:pt x="4479223" y="0"/>
                    <a:pt x="4489517" y="10294"/>
                    <a:pt x="4489517" y="22993"/>
                  </a:cubicBezTo>
                  <a:lnTo>
                    <a:pt x="4489517" y="5258469"/>
                  </a:lnTo>
                  <a:cubicBezTo>
                    <a:pt x="4489517" y="5271167"/>
                    <a:pt x="4479223" y="5281461"/>
                    <a:pt x="4466525" y="5281461"/>
                  </a:cubicBezTo>
                  <a:lnTo>
                    <a:pt x="22993" y="5281461"/>
                  </a:lnTo>
                  <a:cubicBezTo>
                    <a:pt x="10294" y="5281461"/>
                    <a:pt x="0" y="5271167"/>
                    <a:pt x="0" y="5258469"/>
                  </a:cubicBezTo>
                  <a:lnTo>
                    <a:pt x="0" y="22993"/>
                  </a:lnTo>
                  <a:cubicBezTo>
                    <a:pt x="0" y="10294"/>
                    <a:pt x="10294" y="0"/>
                    <a:pt x="22993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48951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>
                <a:lnSpc>
                  <a:spcPts val="3359"/>
                </a:lnSpc>
              </a:pPr>
            </a:p>
          </p:txBody>
        </p:sp>
      </p:grpSp>
      <p:sp>
        <p:nvSpPr>
          <p:cNvPr name="AutoShape 6" id="6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7" id="7"/>
          <p:cNvGrpSpPr/>
          <p:nvPr/>
        </p:nvGrpSpPr>
        <p:grpSpPr>
          <a:xfrm rot="0">
            <a:off x="6630723" y="2604790"/>
            <a:ext cx="5026555" cy="5912783"/>
            <a:chOff x="0" y="0"/>
            <a:chExt cx="4489857" cy="528146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8985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5258471"/>
                  </a:lnTo>
                  <a:cubicBezTo>
                    <a:pt x="4489857" y="5271168"/>
                    <a:pt x="4479564" y="5281461"/>
                    <a:pt x="4466866" y="5281461"/>
                  </a:cubicBezTo>
                  <a:lnTo>
                    <a:pt x="22991" y="5281461"/>
                  </a:lnTo>
                  <a:cubicBezTo>
                    <a:pt x="10293" y="5281461"/>
                    <a:pt x="0" y="5271168"/>
                    <a:pt x="0" y="5258471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448985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095047" y="2604790"/>
            <a:ext cx="5026555" cy="5912783"/>
            <a:chOff x="0" y="0"/>
            <a:chExt cx="4489857" cy="528146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8985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5258471"/>
                  </a:lnTo>
                  <a:cubicBezTo>
                    <a:pt x="4489857" y="5271168"/>
                    <a:pt x="4479564" y="5281461"/>
                    <a:pt x="4466866" y="5281461"/>
                  </a:cubicBezTo>
                  <a:lnTo>
                    <a:pt x="22991" y="5281461"/>
                  </a:lnTo>
                  <a:cubicBezTo>
                    <a:pt x="10293" y="5281461"/>
                    <a:pt x="0" y="5271168"/>
                    <a:pt x="0" y="5258471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448985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166399" y="1233825"/>
            <a:ext cx="3822789" cy="1085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Solution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29971" y="3858477"/>
            <a:ext cx="3899029" cy="4424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8"/>
              </a:lnSpc>
            </a:pPr>
            <a:r>
              <a:rPr lang="en-US" sz="2461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47 TrialWatch trials in 23 countries. For any case: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the close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st tr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ls, good outcome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first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 and their argument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 legality, vagu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eness, broadness, necessity a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p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roportionality, with a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utho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a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 page.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66399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STUDIO SHODWE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05583" y="4845981"/>
            <a:ext cx="4276833" cy="3437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6"/>
              </a:lnSpc>
            </a:pPr>
            <a:r>
              <a:rPr lang="en-US" sz="246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Special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Rapporteur submission where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eve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 sen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tence cites its source, quotes a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re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checked wo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fo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 word, and a lawyer approves.</a:t>
            </a:r>
          </a:p>
          <a:p>
            <a:pPr algn="ctr" marL="0" indent="0" lvl="0">
              <a:lnSpc>
                <a:spcPts val="3936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2466902" y="4845981"/>
            <a:ext cx="4276833" cy="294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6"/>
              </a:lnSpc>
            </a:pPr>
            <a:r>
              <a:rPr lang="en-US" sz="246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Where a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law just changed: 5 of 13 past Indonesian cases would likely be barred today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(3–9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acr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oss legal readings).</a:t>
            </a:r>
          </a:p>
          <a:p>
            <a:pPr algn="ctr" marL="0" indent="0" lvl="0">
              <a:lnSpc>
                <a:spcPts val="3936"/>
              </a:lnSpc>
            </a:pP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914754" y="3001227"/>
            <a:ext cx="1683382" cy="1683382"/>
          </a:xfrm>
          <a:custGeom>
            <a:avLst/>
            <a:gdLst/>
            <a:ahLst/>
            <a:cxnLst/>
            <a:rect r="r" b="b" t="t" l="l"/>
            <a:pathLst>
              <a:path h="1683382" w="1683382">
                <a:moveTo>
                  <a:pt x="0" y="0"/>
                </a:moveTo>
                <a:lnTo>
                  <a:pt x="1683382" y="0"/>
                </a:lnTo>
                <a:lnTo>
                  <a:pt x="1683382" y="1683382"/>
                </a:lnTo>
                <a:lnTo>
                  <a:pt x="0" y="16833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90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2891637" y="2745983"/>
            <a:ext cx="1047750" cy="1047750"/>
          </a:xfrm>
          <a:custGeom>
            <a:avLst/>
            <a:gdLst/>
            <a:ahLst/>
            <a:cxnLst/>
            <a:rect r="r" b="b" t="t" l="l"/>
            <a:pathLst>
              <a:path h="1047750" w="1047750">
                <a:moveTo>
                  <a:pt x="0" y="0"/>
                </a:moveTo>
                <a:lnTo>
                  <a:pt x="1047750" y="0"/>
                </a:lnTo>
                <a:lnTo>
                  <a:pt x="1047750" y="1047750"/>
                </a:lnTo>
                <a:lnTo>
                  <a:pt x="0" y="10477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92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14108262" y="3453664"/>
            <a:ext cx="1000125" cy="1000125"/>
          </a:xfrm>
          <a:custGeom>
            <a:avLst/>
            <a:gdLst/>
            <a:ahLst/>
            <a:cxnLst/>
            <a:rect r="r" b="b" t="t" l="l"/>
            <a:pathLst>
              <a:path h="1000125" w="1000125">
                <a:moveTo>
                  <a:pt x="0" y="0"/>
                </a:moveTo>
                <a:lnTo>
                  <a:pt x="1000125" y="0"/>
                </a:lnTo>
                <a:lnTo>
                  <a:pt x="100012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0000"/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566119">
            <a:off x="-3457675" y="7234704"/>
            <a:ext cx="18288000" cy="7666282"/>
          </a:xfrm>
          <a:custGeom>
            <a:avLst/>
            <a:gdLst/>
            <a:ahLst/>
            <a:cxnLst/>
            <a:rect r="r" b="b" t="t" l="l"/>
            <a:pathLst>
              <a:path h="7666282" w="18288000">
                <a:moveTo>
                  <a:pt x="0" y="0"/>
                </a:moveTo>
                <a:lnTo>
                  <a:pt x="18288000" y="0"/>
                </a:lnTo>
                <a:lnTo>
                  <a:pt x="18288000" y="7666282"/>
                </a:lnTo>
                <a:lnTo>
                  <a:pt x="0" y="76662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5400000">
            <a:off x="16076393" y="-1522092"/>
            <a:ext cx="1628904" cy="4000298"/>
          </a:xfrm>
          <a:custGeom>
            <a:avLst/>
            <a:gdLst/>
            <a:ahLst/>
            <a:cxnLst/>
            <a:rect r="r" b="b" t="t" l="l"/>
            <a:pathLst>
              <a:path h="4000298" w="1628904">
                <a:moveTo>
                  <a:pt x="0" y="0"/>
                </a:moveTo>
                <a:lnTo>
                  <a:pt x="1628905" y="0"/>
                </a:lnTo>
                <a:lnTo>
                  <a:pt x="1628905" y="4000298"/>
                </a:lnTo>
                <a:lnTo>
                  <a:pt x="0" y="40002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8583758"/>
            <a:ext cx="844473" cy="674542"/>
          </a:xfrm>
          <a:custGeom>
            <a:avLst/>
            <a:gdLst/>
            <a:ahLst/>
            <a:cxnLst/>
            <a:rect r="r" b="b" t="t" l="l"/>
            <a:pathLst>
              <a:path h="674542" w="844473">
                <a:moveTo>
                  <a:pt x="0" y="0"/>
                </a:moveTo>
                <a:lnTo>
                  <a:pt x="844473" y="0"/>
                </a:lnTo>
                <a:lnTo>
                  <a:pt x="844473" y="674542"/>
                </a:lnTo>
                <a:lnTo>
                  <a:pt x="0" y="6745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7190400" y="6987944"/>
            <a:ext cx="3907200" cy="6598113"/>
          </a:xfrm>
          <a:custGeom>
            <a:avLst/>
            <a:gdLst/>
            <a:ahLst/>
            <a:cxnLst/>
            <a:rect r="r" b="b" t="t" l="l"/>
            <a:pathLst>
              <a:path h="6598113" w="3907200">
                <a:moveTo>
                  <a:pt x="0" y="0"/>
                </a:moveTo>
                <a:lnTo>
                  <a:pt x="3907200" y="0"/>
                </a:lnTo>
                <a:lnTo>
                  <a:pt x="3907200" y="6598112"/>
                </a:lnTo>
                <a:lnTo>
                  <a:pt x="0" y="65981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-76851" y="-1940433"/>
            <a:ext cx="2211103" cy="4419400"/>
          </a:xfrm>
          <a:custGeom>
            <a:avLst/>
            <a:gdLst/>
            <a:ahLst/>
            <a:cxnLst/>
            <a:rect r="r" b="b" t="t" l="l"/>
            <a:pathLst>
              <a:path h="4419400" w="2211103">
                <a:moveTo>
                  <a:pt x="0" y="0"/>
                </a:moveTo>
                <a:lnTo>
                  <a:pt x="2211102" y="0"/>
                </a:lnTo>
                <a:lnTo>
                  <a:pt x="2211102" y="4419399"/>
                </a:lnTo>
                <a:lnTo>
                  <a:pt x="0" y="44193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-384597">
            <a:off x="12292235" y="5730808"/>
            <a:ext cx="5695058" cy="5705900"/>
          </a:xfrm>
          <a:custGeom>
            <a:avLst/>
            <a:gdLst/>
            <a:ahLst/>
            <a:cxnLst/>
            <a:rect r="r" b="b" t="t" l="l"/>
            <a:pathLst>
              <a:path h="5705900" w="5695058">
                <a:moveTo>
                  <a:pt x="0" y="0"/>
                </a:moveTo>
                <a:lnTo>
                  <a:pt x="5695058" y="0"/>
                </a:lnTo>
                <a:lnTo>
                  <a:pt x="5695058" y="5705900"/>
                </a:lnTo>
                <a:lnTo>
                  <a:pt x="0" y="57059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42113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382725" y="2454240"/>
            <a:ext cx="16035890" cy="1410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485"/>
              </a:lnSpc>
            </a:pPr>
            <a:r>
              <a:rPr lang="en-US" sz="10922" b="true">
                <a:solidFill>
                  <a:srgbClr val="FFFFFF"/>
                </a:solidFill>
                <a:latin typeface="Formula Heavy"/>
                <a:ea typeface="Formula Heavy"/>
                <a:cs typeface="Formula Heavy"/>
                <a:sym typeface="Formula Heavy"/>
              </a:rPr>
              <a:t>WHY NOW? HUMAN</a:t>
            </a:r>
            <a:r>
              <a:rPr lang="en-US" b="true" sz="10922">
                <a:solidFill>
                  <a:srgbClr val="FFFFFF"/>
                </a:solidFill>
                <a:latin typeface="Formula Heavy"/>
                <a:ea typeface="Formula Heavy"/>
                <a:cs typeface="Formula Heavy"/>
                <a:sym typeface="Formula Heavy"/>
              </a:rPr>
              <a:t> RIGHTS IMPACT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19710" y="3998245"/>
            <a:ext cx="16898905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4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B</a:t>
            </a: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ehind each row is a person. Laras Faizati Khairunnisa shared an Instagram Story about a police headquarters during the August 2025 unrest and was convicted in January 2026, receiving six months of supervision rather than prison.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933751" y="6541339"/>
            <a:ext cx="9504177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-1049" t="-1049" r="-1049" b="-1049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1166399" y="2604790"/>
            <a:ext cx="5026174" cy="5912783"/>
            <a:chOff x="0" y="0"/>
            <a:chExt cx="4489517" cy="528146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8951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517">
                  <a:moveTo>
                    <a:pt x="22993" y="0"/>
                  </a:moveTo>
                  <a:lnTo>
                    <a:pt x="4466525" y="0"/>
                  </a:lnTo>
                  <a:cubicBezTo>
                    <a:pt x="4479223" y="0"/>
                    <a:pt x="4489517" y="10294"/>
                    <a:pt x="4489517" y="22993"/>
                  </a:cubicBezTo>
                  <a:lnTo>
                    <a:pt x="4489517" y="5258469"/>
                  </a:lnTo>
                  <a:cubicBezTo>
                    <a:pt x="4489517" y="5271167"/>
                    <a:pt x="4479223" y="5281461"/>
                    <a:pt x="4466525" y="5281461"/>
                  </a:cubicBezTo>
                  <a:lnTo>
                    <a:pt x="22993" y="5281461"/>
                  </a:lnTo>
                  <a:cubicBezTo>
                    <a:pt x="10294" y="5281461"/>
                    <a:pt x="0" y="5271167"/>
                    <a:pt x="0" y="5258469"/>
                  </a:cubicBezTo>
                  <a:lnTo>
                    <a:pt x="0" y="22993"/>
                  </a:lnTo>
                  <a:cubicBezTo>
                    <a:pt x="0" y="10294"/>
                    <a:pt x="10294" y="0"/>
                    <a:pt x="22993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48951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>
                <a:lnSpc>
                  <a:spcPts val="3359"/>
                </a:lnSpc>
              </a:pPr>
            </a:p>
          </p:txBody>
        </p:sp>
      </p:grpSp>
      <p:sp>
        <p:nvSpPr>
          <p:cNvPr name="AutoShape 6" id="6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7" id="7"/>
          <p:cNvGrpSpPr/>
          <p:nvPr/>
        </p:nvGrpSpPr>
        <p:grpSpPr>
          <a:xfrm rot="0">
            <a:off x="6630723" y="2604790"/>
            <a:ext cx="5026555" cy="5912783"/>
            <a:chOff x="0" y="0"/>
            <a:chExt cx="4489857" cy="528146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8985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5258471"/>
                  </a:lnTo>
                  <a:cubicBezTo>
                    <a:pt x="4489857" y="5271168"/>
                    <a:pt x="4479564" y="5281461"/>
                    <a:pt x="4466866" y="5281461"/>
                  </a:cubicBezTo>
                  <a:lnTo>
                    <a:pt x="22991" y="5281461"/>
                  </a:lnTo>
                  <a:cubicBezTo>
                    <a:pt x="10293" y="5281461"/>
                    <a:pt x="0" y="5271168"/>
                    <a:pt x="0" y="5258471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448985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095047" y="2604790"/>
            <a:ext cx="5026555" cy="5912783"/>
            <a:chOff x="0" y="0"/>
            <a:chExt cx="4489857" cy="528146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89857" cy="5281461"/>
            </a:xfrm>
            <a:custGeom>
              <a:avLst/>
              <a:gdLst/>
              <a:ahLst/>
              <a:cxnLst/>
              <a:rect r="r" b="b" t="t" l="l"/>
              <a:pathLst>
                <a:path h="5281461" w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5258471"/>
                  </a:lnTo>
                  <a:cubicBezTo>
                    <a:pt x="4489857" y="5271168"/>
                    <a:pt x="4479564" y="5281461"/>
                    <a:pt x="4466866" y="5281461"/>
                  </a:cubicBezTo>
                  <a:lnTo>
                    <a:pt x="22991" y="5281461"/>
                  </a:lnTo>
                  <a:cubicBezTo>
                    <a:pt x="10293" y="5281461"/>
                    <a:pt x="0" y="5271168"/>
                    <a:pt x="0" y="5258471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4489857" cy="53290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166399" y="1233825"/>
            <a:ext cx="6910753" cy="1085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How It Works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29971" y="3858477"/>
            <a:ext cx="3899029" cy="4427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8"/>
              </a:lnSpc>
            </a:pPr>
            <a:r>
              <a:rPr lang="en-US" sz="2461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Pick a case or describe a new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one; 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atches say why</a:t>
            </a:r>
          </a:p>
          <a:p>
            <a:pPr algn="ctr" marL="0" indent="0" lvl="0">
              <a:lnSpc>
                <a:spcPts val="3938"/>
              </a:lnSpc>
            </a:pP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Arguments 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gr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oupe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 b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the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fi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ve labels, with author and p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age</a:t>
            </a:r>
          </a:p>
          <a:p>
            <a:pPr algn="ctr" marL="0" indent="0" lvl="0">
              <a:lnSpc>
                <a:spcPts val="3938"/>
              </a:lnSpc>
            </a:pP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Go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od outcomes first, each confirmed with a so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2461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976778" y="3858477"/>
            <a:ext cx="4334063" cy="3437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6"/>
              </a:lnSpc>
            </a:pPr>
            <a:r>
              <a:rPr lang="en-US" sz="246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Rules R1–R4 run as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transparent code, no AI</a:t>
            </a:r>
          </a:p>
          <a:p>
            <a:pPr algn="ctr" marL="0" indent="0" lvl="0">
              <a:lnSpc>
                <a:spcPts val="3936"/>
              </a:lnSpc>
            </a:pP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Sensitivity analysis: 10 legal readings, 3–9 of 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13</a:t>
            </a:r>
          </a:p>
          <a:p>
            <a:pPr algn="ctr" marL="0" indent="0" lvl="0">
              <a:lnSpc>
                <a:spcPts val="3936"/>
              </a:lnSpc>
            </a:pP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Pa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ste a news story: Gemini suggests inputs with checked quotes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38327" y="3858477"/>
            <a:ext cx="4276833" cy="3932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36"/>
              </a:lnSpc>
            </a:pPr>
            <a:r>
              <a:rPr lang="en-US" sz="246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Letter built on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ly from numbered sources</a:t>
            </a:r>
          </a:p>
          <a:p>
            <a:pPr algn="ctr" marL="0" indent="0" lvl="0">
              <a:lnSpc>
                <a:spcPts val="3936"/>
              </a:lnSpc>
            </a:pP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Code rejects uncited sentences and invented quotes</a:t>
            </a:r>
          </a:p>
          <a:p>
            <a:pPr algn="ctr" marL="0" indent="0" lvl="0">
              <a:lnSpc>
                <a:spcPts val="3936"/>
              </a:lnSpc>
            </a:pP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 second check fla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</a:t>
            </a:r>
            <a:r>
              <a:rPr lang="en-US" sz="246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weak sentences; a named lawyer approves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168232" y="3059434"/>
            <a:ext cx="817023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735298" y="3059434"/>
            <a:ext cx="817023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270974" y="3059434"/>
            <a:ext cx="817023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20"/>
              </a:lnSpc>
            </a:pPr>
            <a:r>
              <a:rPr lang="en-US" b="true" sz="32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-1049" t="-1049" r="-1049" b="-1049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94044" y="-114300"/>
            <a:ext cx="5299912" cy="1085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Product Demo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434775" y="509874"/>
            <a:ext cx="6541284" cy="812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87"/>
              </a:lnSpc>
            </a:pPr>
            <a:r>
              <a:rPr lang="en-US" sz="6287">
                <a:solidFill>
                  <a:srgbClr val="0B0B0B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SERVICE PIPELINE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84882" y="1474318"/>
            <a:ext cx="11530509" cy="793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AI is used in two places only: suggesting case facts from a news story, and drafting the letter. Both are checked by code against the sources, then approved by a person.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524000" y="3638550"/>
            <a:ext cx="3486150" cy="4076700"/>
          </a:xfrm>
          <a:custGeom>
            <a:avLst/>
            <a:gdLst/>
            <a:ahLst/>
            <a:cxnLst/>
            <a:rect r="r" b="b" t="t" l="l"/>
            <a:pathLst>
              <a:path h="4076700" w="3486150">
                <a:moveTo>
                  <a:pt x="0" y="0"/>
                </a:moveTo>
                <a:lnTo>
                  <a:pt x="3486150" y="0"/>
                </a:lnTo>
                <a:lnTo>
                  <a:pt x="348615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047189" y="3063646"/>
            <a:ext cx="1556909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34856" y="3749713"/>
            <a:ext cx="2790163" cy="1204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TrialWatch reports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96 cfj.org listings, 94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PDFs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572000" y="3638550"/>
            <a:ext cx="6972300" cy="4076700"/>
          </a:xfrm>
          <a:custGeom>
            <a:avLst/>
            <a:gdLst/>
            <a:ahLst/>
            <a:cxnLst/>
            <a:rect r="r" b="b" t="t" l="l"/>
            <a:pathLst>
              <a:path h="4076700" w="6972300">
                <a:moveTo>
                  <a:pt x="0" y="0"/>
                </a:moveTo>
                <a:lnTo>
                  <a:pt x="6972300" y="0"/>
                </a:lnTo>
                <a:lnTo>
                  <a:pt x="697230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7698816" y="3063646"/>
            <a:ext cx="1643427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792083" y="3689438"/>
            <a:ext cx="3032358" cy="1204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People confirm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47/47 outcomes • 288 impact sentences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1096625" y="3638550"/>
            <a:ext cx="3276600" cy="4076700"/>
          </a:xfrm>
          <a:custGeom>
            <a:avLst/>
            <a:gdLst/>
            <a:ahLst/>
            <a:cxnLst/>
            <a:rect r="r" b="b" t="t" l="l"/>
            <a:pathLst>
              <a:path h="4076700" w="3276600">
                <a:moveTo>
                  <a:pt x="0" y="0"/>
                </a:moveTo>
                <a:lnTo>
                  <a:pt x="3276600" y="0"/>
                </a:lnTo>
                <a:lnTo>
                  <a:pt x="327660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4422895" y="3063646"/>
            <a:ext cx="1640967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406545" y="3689438"/>
            <a:ext cx="3275919" cy="1204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Sourced UN letter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citation check • support check • lawyer approves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153912" y="7026753"/>
            <a:ext cx="1637687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134660" y="7788164"/>
            <a:ext cx="3562945" cy="1615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Parse, no AI</a:t>
            </a:r>
          </a:p>
          <a:p>
            <a:pPr algn="just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63 grades • 47 authors • 2,381 arguments • 154 UN decisions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10080" y="7026753"/>
            <a:ext cx="1637277" cy="581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3102" b="true">
                <a:solidFill>
                  <a:srgbClr val="0B0B0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Phase 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595069" y="7788164"/>
            <a:ext cx="3138421" cy="1204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5"/>
              </a:lnSpc>
            </a:pPr>
            <a:r>
              <a:rPr lang="en-US" sz="2047" b="true">
                <a:solidFill>
                  <a:srgbClr val="22222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Match current case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stress test + closest</a:t>
            </a:r>
          </a:p>
          <a:p>
            <a:pPr algn="l">
              <a:lnSpc>
                <a:spcPts val="3275"/>
              </a:lnSpc>
            </a:pPr>
            <a:r>
              <a:rPr lang="en-US" sz="2047">
                <a:solidFill>
                  <a:srgbClr val="222222"/>
                </a:solidFill>
                <a:latin typeface="Open Sauce"/>
                <a:ea typeface="Open Sauce"/>
                <a:cs typeface="Open Sauce"/>
                <a:sym typeface="Open Sauce"/>
              </a:rPr>
              <a:t>past trials, with reasons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877109" y="9133945"/>
            <a:ext cx="223421" cy="282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74"/>
              </a:lnSpc>
            </a:pPr>
            <a:r>
              <a:rPr lang="en-US" sz="1546" b="true">
                <a:solidFill>
                  <a:srgbClr val="222222">
                    <a:alpha val="49804"/>
                  </a:srgbClr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207818" y="1924030"/>
            <a:ext cx="5895474" cy="3224936"/>
          </a:xfrm>
          <a:custGeom>
            <a:avLst/>
            <a:gdLst/>
            <a:ahLst/>
            <a:cxnLst/>
            <a:rect r="r" b="b" t="t" l="l"/>
            <a:pathLst>
              <a:path h="3224936" w="5895474">
                <a:moveTo>
                  <a:pt x="0" y="0"/>
                </a:moveTo>
                <a:lnTo>
                  <a:pt x="5895474" y="0"/>
                </a:lnTo>
                <a:lnTo>
                  <a:pt x="5895474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521535" y="780360"/>
            <a:ext cx="12140256" cy="775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55"/>
              </a:lnSpc>
            </a:pPr>
            <a:r>
              <a:rPr lang="en-US" b="true" sz="5211" spc="-104">
                <a:solidFill>
                  <a:srgbClr val="440F0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WHY TRIALWATCH LAWYERS USE IT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69097" y="2946480"/>
            <a:ext cx="3052759" cy="1204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80"/>
              </a:lnSpc>
            </a:pPr>
            <a:r>
              <a:rPr lang="en-US" b="true" sz="3755" spc="-75">
                <a:solidFill>
                  <a:srgbClr val="440F0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TrialWatch</a:t>
            </a:r>
          </a:p>
          <a:p>
            <a:pPr algn="ctr">
              <a:lnSpc>
                <a:spcPts val="4880"/>
              </a:lnSpc>
            </a:pPr>
            <a:r>
              <a:rPr lang="en-US" b="true" sz="3755" spc="-75">
                <a:solidFill>
                  <a:srgbClr val="440F0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legal monitor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106165" y="2384547"/>
            <a:ext cx="2853070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Our user (illustrative)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85166" y="3123142"/>
            <a:ext cx="4952911" cy="1103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1"/>
              </a:lnSpc>
            </a:pPr>
            <a:r>
              <a:rPr lang="en-US" sz="2047" spc="-40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Reviews new speech prosecutions and drafts UN submissions under time pressure.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021107" y="2384547"/>
            <a:ext cx="718231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Goal: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965952" y="2776725"/>
            <a:ext cx="885962" cy="229572"/>
          </a:xfrm>
          <a:custGeom>
            <a:avLst/>
            <a:gdLst/>
            <a:ahLst/>
            <a:cxnLst/>
            <a:rect r="r" b="b" t="t" l="l"/>
            <a:pathLst>
              <a:path h="229572" w="885962">
                <a:moveTo>
                  <a:pt x="0" y="0"/>
                </a:moveTo>
                <a:lnTo>
                  <a:pt x="885962" y="0"/>
                </a:lnTo>
                <a:lnTo>
                  <a:pt x="885962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2007994" y="2748294"/>
            <a:ext cx="4944335" cy="14785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1"/>
              </a:lnSpc>
            </a:pPr>
            <a:r>
              <a:rPr lang="en-US" sz="2047" spc="-40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  “Show me how we argued a case like this, what happened, and give me a draft I can check.”</a:t>
            </a:r>
          </a:p>
          <a:p>
            <a:pPr algn="l">
              <a:lnSpc>
                <a:spcPts val="3071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526822" y="5231046"/>
            <a:ext cx="895912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Needs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86261" y="6029885"/>
            <a:ext cx="4952075" cy="1103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1"/>
              </a:lnSpc>
            </a:pPr>
            <a:r>
              <a:rPr lang="en-US" sz="2047" spc="-40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Find precedent fast, cite TrialWatch’s own findings, act the day a complaint is filed.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119546" y="5231046"/>
            <a:ext cx="1514959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Pain points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85009" y="6029270"/>
            <a:ext cx="4968652" cy="762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90 reports to read, sources in several languages, letters from scratch.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07994" y="6029884"/>
            <a:ext cx="4708450" cy="1103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1"/>
              </a:lnSpc>
            </a:pPr>
            <a:r>
              <a:rPr lang="en-US" sz="2047" spc="-40" b="true">
                <a:solidFill>
                  <a:srgbClr val="642F2F"/>
                </a:solidFill>
                <a:latin typeface="Open Sauce Medium"/>
                <a:ea typeface="Open Sauce Medium"/>
                <a:cs typeface="Open Sauce Medium"/>
                <a:sym typeface="Open Sauce Medium"/>
              </a:rPr>
              <a:t>Minutes, not a day: closest cases, arguments with page links, a sourced draft to approve.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7925691"/>
            <a:ext cx="1760986" cy="1727254"/>
          </a:xfrm>
          <a:custGeom>
            <a:avLst/>
            <a:gdLst/>
            <a:ahLst/>
            <a:cxnLst/>
            <a:rect r="r" b="b" t="t" l="l"/>
            <a:pathLst>
              <a:path h="1727254" w="1760986">
                <a:moveTo>
                  <a:pt x="0" y="0"/>
                </a:moveTo>
                <a:lnTo>
                  <a:pt x="1760986" y="0"/>
                </a:lnTo>
                <a:lnTo>
                  <a:pt x="1760986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864086" y="8352038"/>
            <a:ext cx="885962" cy="863627"/>
          </a:xfrm>
          <a:custGeom>
            <a:avLst/>
            <a:gdLst/>
            <a:ahLst/>
            <a:cxnLst/>
            <a:rect r="r" b="b" t="t" l="l"/>
            <a:pathLst>
              <a:path h="863627" w="885962">
                <a:moveTo>
                  <a:pt x="0" y="0"/>
                </a:moveTo>
                <a:lnTo>
                  <a:pt x="885962" y="0"/>
                </a:lnTo>
                <a:lnTo>
                  <a:pt x="885962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2293153" y="8259710"/>
            <a:ext cx="1070609" cy="49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b="true" sz="2759" spc="-55">
                <a:solidFill>
                  <a:srgbClr val="440F0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EASY: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6311110" y="7925691"/>
            <a:ext cx="1750048" cy="1727254"/>
          </a:xfrm>
          <a:custGeom>
            <a:avLst/>
            <a:gdLst/>
            <a:ahLst/>
            <a:cxnLst/>
            <a:rect r="r" b="b" t="t" l="l"/>
            <a:pathLst>
              <a:path h="1727254" w="1750048">
                <a:moveTo>
                  <a:pt x="0" y="0"/>
                </a:moveTo>
                <a:lnTo>
                  <a:pt x="1750048" y="0"/>
                </a:lnTo>
                <a:lnTo>
                  <a:pt x="175004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6529866" y="8352038"/>
            <a:ext cx="1093780" cy="1082267"/>
          </a:xfrm>
          <a:custGeom>
            <a:avLst/>
            <a:gdLst/>
            <a:ahLst/>
            <a:cxnLst/>
            <a:rect r="r" b="b" t="t" l="l"/>
            <a:pathLst>
              <a:path h="1082267" w="1093780">
                <a:moveTo>
                  <a:pt x="0" y="0"/>
                </a:moveTo>
                <a:lnTo>
                  <a:pt x="1093780" y="0"/>
                </a:lnTo>
                <a:lnTo>
                  <a:pt x="109378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1" id="21"/>
          <p:cNvSpPr txBox="true"/>
          <p:nvPr/>
        </p:nvSpPr>
        <p:spPr>
          <a:xfrm rot="0">
            <a:off x="8120864" y="8063919"/>
            <a:ext cx="2301143" cy="49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b="true" sz="2759" spc="-55">
                <a:solidFill>
                  <a:srgbClr val="440F0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CHECKABLE: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118029" y="8630862"/>
            <a:ext cx="2584576" cy="909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30"/>
              </a:lnSpc>
            </a:pPr>
            <a:r>
              <a:rPr lang="en-US" sz="2487" spc="-49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every claim links to its page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1965952" y="7925691"/>
            <a:ext cx="1750048" cy="1727254"/>
          </a:xfrm>
          <a:custGeom>
            <a:avLst/>
            <a:gdLst/>
            <a:ahLst/>
            <a:cxnLst/>
            <a:rect r="r" b="b" t="t" l="l"/>
            <a:pathLst>
              <a:path h="1727254" w="1750048">
                <a:moveTo>
                  <a:pt x="0" y="0"/>
                </a:moveTo>
                <a:lnTo>
                  <a:pt x="1750048" y="0"/>
                </a:lnTo>
                <a:lnTo>
                  <a:pt x="175004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4"/>
          <p:cNvSpPr/>
          <p:nvPr/>
        </p:nvSpPr>
        <p:spPr>
          <a:xfrm flipH="false" flipV="false" rot="0">
            <a:off x="12403464" y="8352038"/>
            <a:ext cx="885962" cy="1082267"/>
          </a:xfrm>
          <a:custGeom>
            <a:avLst/>
            <a:gdLst/>
            <a:ahLst/>
            <a:cxnLst/>
            <a:rect r="r" b="b" t="t" l="l"/>
            <a:pathLst>
              <a:path h="1082267" w="885962">
                <a:moveTo>
                  <a:pt x="0" y="0"/>
                </a:moveTo>
                <a:lnTo>
                  <a:pt x="885962" y="0"/>
                </a:lnTo>
                <a:lnTo>
                  <a:pt x="88596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25"/>
          <p:cNvSpPr txBox="true"/>
          <p:nvPr/>
        </p:nvSpPr>
        <p:spPr>
          <a:xfrm rot="0">
            <a:off x="13778634" y="7928371"/>
            <a:ext cx="1773290" cy="49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b="true" sz="2759" spc="-55">
                <a:solidFill>
                  <a:srgbClr val="440F0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SPECIFIC: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777280" y="8399525"/>
            <a:ext cx="1908724" cy="1314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399" spc="-48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built from</a:t>
            </a:r>
          </a:p>
          <a:p>
            <a:pPr algn="l">
              <a:lnSpc>
                <a:spcPts val="3599"/>
              </a:lnSpc>
            </a:pPr>
            <a:r>
              <a:rPr lang="en-US" sz="2399" spc="-48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TrialWatch’s</a:t>
            </a:r>
          </a:p>
          <a:p>
            <a:pPr algn="l">
              <a:lnSpc>
                <a:spcPts val="3599"/>
              </a:lnSpc>
            </a:pPr>
            <a:r>
              <a:rPr lang="en-US" sz="2399" spc="-48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own reports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277071" y="8846239"/>
            <a:ext cx="2678862" cy="39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7"/>
              </a:lnSpc>
            </a:pPr>
            <a:r>
              <a:rPr lang="en-US" sz="2311" spc="-46" b="true">
                <a:solidFill>
                  <a:srgbClr val="642F2F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web app, no install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010586" y="5231046"/>
            <a:ext cx="1770305" cy="369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4"/>
              </a:lnSpc>
            </a:pPr>
            <a:r>
              <a:rPr lang="en-US" sz="2109" spc="-42" b="true">
                <a:solidFill>
                  <a:srgbClr val="642F2F"/>
                </a:solidFill>
                <a:latin typeface="Open Sauce Heavy"/>
                <a:ea typeface="Open Sauce Heavy"/>
                <a:cs typeface="Open Sauce Heavy"/>
                <a:sym typeface="Open Sauce Heavy"/>
              </a:rPr>
              <a:t>How we help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1166399" y="1233825"/>
            <a:ext cx="7445029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RESPONSIBLE AI</a:t>
            </a:r>
          </a:p>
          <a:p>
            <a:pPr algn="l">
              <a:lnSpc>
                <a:spcPts val="895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166399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STUDIO SHODWE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75924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AI w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he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ul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 will do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166399" y="4852373"/>
            <a:ext cx="4843133" cy="1061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Stress t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est, par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sing,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 and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ing are p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ain, tes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ed code. AI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ly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su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gg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ests inputs and drafts letters.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731959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Every claim has a s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ou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rce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6722434" y="4852373"/>
            <a:ext cx="4843133" cy="1423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Quotes checked word for word; uncited sente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nces reje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cted; each argument credited to its report's author; a person approves.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287994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ne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and 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2278469" y="4852373"/>
            <a:ext cx="4843133" cy="1423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No predictions: “fo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owed”, never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“caus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”.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2 at-r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k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eople hid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 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and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never sent to AI. Onl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y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cited excerpts p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blish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© CFJ.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1166399" y="1233825"/>
            <a:ext cx="7445029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VALIDATION</a:t>
            </a:r>
          </a:p>
          <a:p>
            <a:pPr algn="l">
              <a:lnSpc>
                <a:spcPts val="895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166399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 strike="noStrike" u="none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STUDIO SHODWE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75924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ou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rc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 check out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166399" y="4852373"/>
            <a:ext cx="4843133" cy="2508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2,381 / 2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,381 ar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guments on the page they cite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288 / 288 impact sentences on the page they cite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Authors for 47 / 47 reports, each with its source sentence</a:t>
            </a:r>
          </a:p>
          <a:p>
            <a:pPr algn="l">
              <a:lnSpc>
                <a:spcPts val="2880"/>
              </a:lnSpc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=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731959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People confirmed the data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6722434" y="4852373"/>
            <a:ext cx="4843133" cy="1784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47 / 47 TrialWatch outcomes confirmed with a source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14 of 16 Indonesia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 cases si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gned off by a teammate</a:t>
            </a:r>
          </a:p>
          <a:p>
            <a:pPr algn="l">
              <a:lnSpc>
                <a:spcPts val="2880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2287994" y="3642063"/>
            <a:ext cx="4833608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</a:t>
            </a:r>
            <a:r>
              <a:rPr lang="en-US" b="true" sz="2400" strike="noStrike" u="non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know our limits</a:t>
            </a:r>
          </a:p>
          <a:p>
            <a:pPr algn="l" marL="0" indent="0" lvl="0">
              <a:lnSpc>
                <a:spcPts val="384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2278469" y="4852373"/>
            <a:ext cx="4843133" cy="1784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Headline 5 of 13; 3–9 across </a:t>
            </a:r>
            <a:r>
              <a:rPr lang="en-US" sz="18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legal 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eadings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Argu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ent categori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 about 75–80% right in 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ha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nd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-r</a:t>
            </a: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ead sample</a:t>
            </a:r>
          </a:p>
          <a:p>
            <a:pPr algn="l" marL="388620" indent="-194310" lvl="1">
              <a:lnSpc>
                <a:spcPts val="288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168 automated tests on every change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1166399" y="2799790"/>
          <a:ext cx="15453593" cy="5803953"/>
        </p:xfrm>
        <a:graphic>
          <a:graphicData uri="http://schemas.openxmlformats.org/drawingml/2006/table">
            <a:tbl>
              <a:tblPr/>
              <a:tblGrid>
                <a:gridCol w="5151198"/>
                <a:gridCol w="5151198"/>
                <a:gridCol w="5151198"/>
              </a:tblGrid>
              <a:tr h="12957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Today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With TrialWatch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Next reform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</a:tr>
              <a:tr h="12957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DEMO</a:t>
                      </a: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 &amp; HANDOVER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LAWYER REVIEW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SCALE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1236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Live app, open-source rep</a:t>
                      </a: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o and written guide. Every number here recomputed from the data.</a:t>
                      </a:r>
                      <a:endParaRPr lang="en-US" sz="1100"/>
                    </a:p>
                    <a:p>
                      <a:pPr algn="l">
                        <a:lnSpc>
                          <a:spcPts val="294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Confirm rules R1–R4 and the argument categories with TrialWatch lawyers; add the 73-case Indonesia dataset.</a:t>
                      </a:r>
                      <a:endParaRPr lang="en-US" sz="1100"/>
                    </a:p>
                    <a:p>
                      <a:pPr algn="ctr">
                        <a:lnSpc>
                          <a:spcPts val="294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Swap the rules file for the next country's reform; add a live news intake that feeds a review queue.</a:t>
                      </a:r>
                      <a:endParaRPr lang="en-US" sz="1100"/>
                    </a:p>
                    <a:p>
                      <a:pPr algn="ctr">
                        <a:lnSpc>
                          <a:spcPts val="294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1166399" y="1233825"/>
            <a:ext cx="10399168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NEXT STEPS</a:t>
            </a:r>
          </a:p>
          <a:p>
            <a:pPr algn="l">
              <a:lnSpc>
                <a:spcPts val="895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AutoShape 3" id="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1166399" y="1233825"/>
            <a:ext cx="10399168" cy="2218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MEET THE TEAM</a:t>
            </a:r>
          </a:p>
          <a:p>
            <a:pPr algn="l">
              <a:lnSpc>
                <a:spcPts val="895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3671125" y="9142095"/>
            <a:ext cx="345047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66399" y="5787015"/>
            <a:ext cx="2272954" cy="2493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ule engine, sensitivity analysis, Argument Bank, UN letter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169246" y="2905145"/>
            <a:ext cx="2272954" cy="278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Shreya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St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ress test &amp; A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rgument Ba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nk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8644624" y="5787015"/>
            <a:ext cx="1958445" cy="2493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Confirmed all 47 TrialWatch o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utcomes, each with a source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4848328" y="2905145"/>
            <a:ext cx="1901261" cy="2223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Valentina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App &amp; 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case data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1512538" y="2905145"/>
            <a:ext cx="2644647" cy="2223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Ungu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Cas</a:t>
            </a: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e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research &amp; impacts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4848328" y="5787015"/>
            <a:ext cx="2387321" cy="207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epository, case tracker page, case verification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8372411" y="2915901"/>
            <a:ext cx="2701830" cy="278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Yuki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Outcome che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cks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1712681" y="5787015"/>
            <a:ext cx="2244362" cy="207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Indonesian case verification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, impact categories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4905655" y="2905145"/>
            <a:ext cx="2644647" cy="278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Layla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D</a:t>
            </a: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ata</a:t>
            </a:r>
            <a:r>
              <a:rPr lang="en-US" sz="3200" strike="noStrike" u="none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lead &amp; pitch</a:t>
            </a: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4905655" y="5787015"/>
            <a:ext cx="2244362" cy="207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Meila &amp; Asrul cases, sensitive-case</a:t>
            </a:r>
            <a:r>
              <a:rPr lang="en-US" sz="2100" strike="noStrike" u="none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review, slides</a:t>
            </a:r>
          </a:p>
          <a:p>
            <a:pPr algn="l" marL="0" indent="0" lvl="0">
              <a:lnSpc>
                <a:spcPts val="336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485814" y="2762204"/>
            <a:ext cx="9316373" cy="2453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The End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180543" y="5328331"/>
            <a:ext cx="9926914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THANK YOU FOR LISTENING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DAHXn1FiQr0</dc:identifier>
  <dcterms:modified xsi:type="dcterms:W3CDTF">2011-08-01T06:04:30Z</dcterms:modified>
  <cp:revision>1</cp:revision>
  <dc:title>Fradel and Spies Co</dc:title>
</cp:coreProperties>
</file>