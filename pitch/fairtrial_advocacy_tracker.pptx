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4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</p:sldIdLst>
  <p:sldSz cx="18288000" cy="10287000"/>
  <p:notesSz cx="6858000" cy="9144000"/>
  <p:embeddedFontLst>
    <p:embeddedFont>
      <p:font typeface="DM Serif Display" charset="1" panose="00000000000000000000"/>
      <p:regular r:id="rId20"/>
    </p:embeddedFont>
    <p:embeddedFont>
      <p:font typeface="Open Sauce" charset="1" panose="00000500000000000000"/>
      <p:regular r:id="rId21"/>
    </p:embeddedFont>
    <p:embeddedFont>
      <p:font typeface="Open Sauce Bold" charset="1" panose="00000800000000000000"/>
      <p:regular r:id="rId22"/>
    </p:embeddedFont>
    <p:embeddedFont>
      <p:font typeface="Open Sauce Bold Italics" charset="1" panose="00000800000000000000"/>
      <p:regular r:id="rId23"/>
    </p:embeddedFont>
    <p:embeddedFont>
      <p:font typeface="Formula Heavy" charset="1" panose="00000300000000000000"/>
      <p:regular r:id="rId24"/>
    </p:embeddedFont>
    <p:embeddedFont>
      <p:font typeface="Avenir" charset="1" panose="020B0503020203020204"/>
      <p:regular r:id="rId25"/>
    </p:embeddedFont>
    <p:embeddedFont>
      <p:font typeface="Open Sauce Semi-Bold" charset="1" panose="00000700000000000000"/>
      <p:regular r:id="rId26"/>
    </p:embeddedFont>
    <p:embeddedFont>
      <p:font typeface="Open Sauce Medium" charset="1" panose="00000600000000000000"/>
      <p:regular r:id="rId27"/>
    </p:embeddedFont>
    <p:embeddedFont>
      <p:font typeface="Open Sauce Heavy" charset="1" panose="00000A00000000000000"/>
      <p:regular r:id="rId28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slides/slide13.xml" Type="http://schemas.openxmlformats.org/officeDocument/2006/relationships/slide"/><Relationship Id="rId19" Target="slides/slide14.xml" Type="http://schemas.openxmlformats.org/officeDocument/2006/relationships/slide"/><Relationship Id="rId2" Target="presProps.xml" Type="http://schemas.openxmlformats.org/officeDocument/2006/relationships/presProps"/><Relationship Id="rId20" Target="fonts/font20.fntdata" Type="http://schemas.openxmlformats.org/officeDocument/2006/relationships/font"/><Relationship Id="rId21" Target="fonts/font21.fntdata" Type="http://schemas.openxmlformats.org/officeDocument/2006/relationships/font"/><Relationship Id="rId22" Target="fonts/font22.fntdata" Type="http://schemas.openxmlformats.org/officeDocument/2006/relationships/font"/><Relationship Id="rId23" Target="fonts/font23.fntdata" Type="http://schemas.openxmlformats.org/officeDocument/2006/relationships/font"/><Relationship Id="rId24" Target="fonts/font24.fntdata" Type="http://schemas.openxmlformats.org/officeDocument/2006/relationships/font"/><Relationship Id="rId25" Target="fonts/font25.fntdata" Type="http://schemas.openxmlformats.org/officeDocument/2006/relationships/font"/><Relationship Id="rId26" Target="fonts/font26.fntdata" Type="http://schemas.openxmlformats.org/officeDocument/2006/relationships/font"/><Relationship Id="rId27" Target="fonts/font27.fntdata" Type="http://schemas.openxmlformats.org/officeDocument/2006/relationships/font"/><Relationship Id="rId28" Target="fonts/font28.fntdata" Type="http://schemas.openxmlformats.org/officeDocument/2006/relationships/font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2.pn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.jpeg" Type="http://schemas.openxmlformats.org/officeDocument/2006/relationships/image"/><Relationship Id="rId3" Target="../media/image4.png" Type="http://schemas.openxmlformats.org/officeDocument/2006/relationships/image"/><Relationship Id="rId4" Target="../media/image5.sv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.jpe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6.jpeg" Type="http://schemas.openxmlformats.org/officeDocument/2006/relationships/image"/><Relationship Id="rId3" Target="../media/image7.png" Type="http://schemas.openxmlformats.org/officeDocument/2006/relationships/image"/><Relationship Id="rId4" Target="../media/image8.png" Type="http://schemas.openxmlformats.org/officeDocument/2006/relationships/image"/><Relationship Id="rId5" Target="../media/image9.pn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0.png" Type="http://schemas.openxmlformats.org/officeDocument/2006/relationships/image"/><Relationship Id="rId3" Target="../media/image11.svg" Type="http://schemas.openxmlformats.org/officeDocument/2006/relationships/image"/><Relationship Id="rId4" Target="../media/image12.png" Type="http://schemas.openxmlformats.org/officeDocument/2006/relationships/image"/><Relationship Id="rId5" Target="../media/image13.png" Type="http://schemas.openxmlformats.org/officeDocument/2006/relationships/image"/><Relationship Id="rId6" Target="../media/image14.png" Type="http://schemas.openxmlformats.org/officeDocument/2006/relationships/image"/><Relationship Id="rId7" Target="../media/image15.png" Type="http://schemas.openxmlformats.org/officeDocument/2006/relationships/image"/><Relationship Id="rId8" Target="../media/image16.png" Type="http://schemas.openxmlformats.org/officeDocument/2006/relationships/image"/><Relationship Id="rId9" Target="../media/image17.sv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6.jpe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6.jpe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8.png" Type="http://schemas.openxmlformats.org/officeDocument/2006/relationships/image"/><Relationship Id="rId3" Target="../media/image19.png" Type="http://schemas.openxmlformats.org/officeDocument/2006/relationships/image"/><Relationship Id="rId4" Target="../media/image20.png" Type="http://schemas.openxmlformats.org/officeDocument/2006/relationships/image"/><Relationship Id="rId5" Target="../media/image21.pn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30.png" Type="http://schemas.openxmlformats.org/officeDocument/2006/relationships/image"/><Relationship Id="rId2" Target="../media/image22.png" Type="http://schemas.openxmlformats.org/officeDocument/2006/relationships/image"/><Relationship Id="rId3" Target="../media/image23.png" Type="http://schemas.openxmlformats.org/officeDocument/2006/relationships/image"/><Relationship Id="rId4" Target="../media/image24.png" Type="http://schemas.openxmlformats.org/officeDocument/2006/relationships/image"/><Relationship Id="rId5" Target="../media/image25.png" Type="http://schemas.openxmlformats.org/officeDocument/2006/relationships/image"/><Relationship Id="rId6" Target="../media/image26.png" Type="http://schemas.openxmlformats.org/officeDocument/2006/relationships/image"/><Relationship Id="rId7" Target="../media/image27.png" Type="http://schemas.openxmlformats.org/officeDocument/2006/relationships/image"/><Relationship Id="rId8" Target="../media/image28.png" Type="http://schemas.openxmlformats.org/officeDocument/2006/relationships/image"/><Relationship Id="rId9" Target="../media/image29.pn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.jpeg" Type="http://schemas.openxmlformats.org/officeDocument/2006/relationships/imag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.jpeg" Type="http://schemas.openxmlformats.org/officeDocument/2006/relationships/image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.jpeg" Type="http://schemas.openxmlformats.org/officeDocument/2006/relationships/image"/></Relationships>
</file>

<file path=ppt/slides/_rels/slide1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.jpeg" Type="http://schemas.openxmlformats.org/officeDocument/2006/relationships/image"/></Relationships>
</file>

<file path=ppt/slides/_rels/slide1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50000"/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16000"/>
            </a:blip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3433098" y="762000"/>
            <a:ext cx="11796102" cy="48831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600"/>
              </a:lnSpc>
            </a:pPr>
            <a:r>
              <a:rPr lang="en-US" sz="14000">
                <a:solidFill>
                  <a:srgbClr val="000000"/>
                </a:solidFill>
                <a:latin typeface="DM Serif Display"/>
                <a:ea typeface="DM Serif Display"/>
                <a:cs typeface="DM Serif Display"/>
                <a:sym typeface="DM Serif Display"/>
              </a:rPr>
              <a:t>PRECEDENT &amp;</a:t>
            </a:r>
          </a:p>
          <a:p>
            <a:pPr algn="ctr">
              <a:lnSpc>
                <a:spcPts val="19600"/>
              </a:lnSpc>
            </a:pPr>
            <a:r>
              <a:rPr lang="en-US" sz="14000">
                <a:solidFill>
                  <a:srgbClr val="000000"/>
                </a:solidFill>
                <a:latin typeface="DM Serif Display"/>
                <a:ea typeface="DM Serif Display"/>
                <a:cs typeface="DM Serif Display"/>
                <a:sym typeface="DM Serif Display"/>
              </a:rPr>
              <a:t>PRACTICE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4180543" y="5597522"/>
            <a:ext cx="9926914" cy="8248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59"/>
              </a:lnSpc>
              <a:spcBef>
                <a:spcPct val="0"/>
              </a:spcBef>
            </a:pPr>
            <a:r>
              <a:rPr lang="en-US" sz="2400" spc="240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A HUMAN RIGHTS ADVOCACY TRACKER BUILT ON TRIALWATCH'S FAIRNESS REPORTS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5261781" y="8457031"/>
            <a:ext cx="8138737" cy="5378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480"/>
              </a:lnSpc>
              <a:spcBef>
                <a:spcPct val="0"/>
              </a:spcBef>
            </a:pPr>
            <a:r>
              <a:rPr lang="en-US" sz="3200">
                <a:solidFill>
                  <a:srgbClr val="000000">
                    <a:alpha val="49804"/>
                  </a:srgbClr>
                </a:solidFill>
                <a:latin typeface="DM Serif Display"/>
                <a:ea typeface="DM Serif Display"/>
                <a:cs typeface="DM Serif Display"/>
                <a:sym typeface="DM Serif Display"/>
              </a:rPr>
              <a:t>TRACK 3 · ADVOCACY &amp; IMPACT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6576590" y="9102407"/>
            <a:ext cx="5509119" cy="2736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239"/>
              </a:lnSpc>
              <a:spcBef>
                <a:spcPct val="0"/>
              </a:spcBef>
            </a:pPr>
            <a:r>
              <a:rPr lang="en-US" sz="1599" spc="159" strike="noStrike" u="none">
                <a:solidFill>
                  <a:srgbClr val="000000">
                    <a:alpha val="49804"/>
                  </a:srgbClr>
                </a:solidFill>
                <a:latin typeface="Open Sauce"/>
                <a:ea typeface="Open Sauce"/>
                <a:cs typeface="Open Sauce"/>
                <a:sym typeface="Open Sauce"/>
              </a:rPr>
              <a:t>S</a:t>
            </a:r>
            <a:r>
              <a:rPr lang="en-US" sz="1599" spc="159" strike="noStrike" u="none">
                <a:solidFill>
                  <a:srgbClr val="000000">
                    <a:alpha val="49804"/>
                  </a:srgbClr>
                </a:solidFill>
                <a:latin typeface="Open Sauce"/>
                <a:ea typeface="Open Sauce"/>
                <a:cs typeface="Open Sauce"/>
                <a:sym typeface="Open Sauce"/>
              </a:rPr>
              <a:t>HREYA · VALEN</a:t>
            </a:r>
            <a:r>
              <a:rPr lang="en-US" sz="1599" spc="159" strike="noStrike" u="none">
                <a:solidFill>
                  <a:srgbClr val="000000">
                    <a:alpha val="49804"/>
                  </a:srgbClr>
                </a:solidFill>
                <a:latin typeface="Open Sauce"/>
                <a:ea typeface="Open Sauce"/>
                <a:cs typeface="Open Sauce"/>
                <a:sym typeface="Open Sauce"/>
              </a:rPr>
              <a:t>TI</a:t>
            </a:r>
            <a:r>
              <a:rPr lang="en-US" sz="1599" spc="159" strike="noStrike" u="none">
                <a:solidFill>
                  <a:srgbClr val="000000">
                    <a:alpha val="49804"/>
                  </a:srgbClr>
                </a:solidFill>
                <a:latin typeface="Open Sauce"/>
                <a:ea typeface="Open Sauce"/>
                <a:cs typeface="Open Sauce"/>
                <a:sym typeface="Open Sauce"/>
              </a:rPr>
              <a:t>NA</a:t>
            </a:r>
            <a:r>
              <a:rPr lang="en-US" sz="1599" spc="159" strike="noStrike" u="none">
                <a:solidFill>
                  <a:srgbClr val="000000">
                    <a:alpha val="49804"/>
                  </a:srgbClr>
                </a:solidFill>
                <a:latin typeface="Open Sauce"/>
                <a:ea typeface="Open Sauce"/>
                <a:cs typeface="Open Sauce"/>
                <a:sym typeface="Open Sauce"/>
              </a:rPr>
              <a:t> </a:t>
            </a:r>
            <a:r>
              <a:rPr lang="en-US" sz="1599" spc="159" strike="noStrike" u="none">
                <a:solidFill>
                  <a:srgbClr val="000000">
                    <a:alpha val="49804"/>
                  </a:srgbClr>
                </a:solidFill>
                <a:latin typeface="Open Sauce"/>
                <a:ea typeface="Open Sauce"/>
                <a:cs typeface="Open Sauce"/>
                <a:sym typeface="Open Sauce"/>
              </a:rPr>
              <a:t>· UNGU · LAYLA · YUKI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50000"/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AutoShape 3" id="3"/>
          <p:cNvSpPr/>
          <p:nvPr/>
        </p:nvSpPr>
        <p:spPr>
          <a:xfrm>
            <a:off x="1166399" y="1028700"/>
            <a:ext cx="687324" cy="0"/>
          </a:xfrm>
          <a:prstGeom prst="line">
            <a:avLst/>
          </a:prstGeom>
          <a:ln cap="flat" w="76200">
            <a:solidFill>
              <a:srgbClr val="000000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4" id="4"/>
          <p:cNvSpPr/>
          <p:nvPr/>
        </p:nvSpPr>
        <p:spPr>
          <a:xfrm flipH="false" flipV="false" rot="0">
            <a:off x="1166399" y="4215765"/>
            <a:ext cx="4073652" cy="4114800"/>
          </a:xfrm>
          <a:custGeom>
            <a:avLst/>
            <a:gdLst/>
            <a:ahLst/>
            <a:cxnLst/>
            <a:rect r="r" b="b" t="t" l="l"/>
            <a:pathLst>
              <a:path h="4114800" w="4073652">
                <a:moveTo>
                  <a:pt x="0" y="0"/>
                </a:moveTo>
                <a:lnTo>
                  <a:pt x="4073652" y="0"/>
                </a:lnTo>
                <a:lnTo>
                  <a:pt x="4073652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1166399" y="1233825"/>
            <a:ext cx="3822789" cy="22186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959"/>
              </a:lnSpc>
            </a:pPr>
            <a:r>
              <a:rPr lang="en-US" sz="6399">
                <a:solidFill>
                  <a:srgbClr val="000000"/>
                </a:solidFill>
                <a:latin typeface="DM Serif Display"/>
                <a:ea typeface="DM Serif Display"/>
                <a:cs typeface="DM Serif Display"/>
                <a:sym typeface="DM Serif Display"/>
              </a:rPr>
              <a:t>Table of Contents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7613003" y="3393172"/>
            <a:ext cx="2537740" cy="4591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40"/>
              </a:lnSpc>
            </a:pPr>
            <a:r>
              <a:rPr lang="en-US" sz="2400" b="true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Problem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7613003" y="2801683"/>
            <a:ext cx="2537740" cy="4591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40"/>
              </a:lnSpc>
            </a:pPr>
            <a:r>
              <a:rPr lang="en-US" sz="2400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3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1167282" y="3393172"/>
            <a:ext cx="2537740" cy="4591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40"/>
              </a:lnSpc>
            </a:pPr>
            <a:r>
              <a:rPr lang="en-US" sz="2400" b="true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Solution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1167282" y="2801683"/>
            <a:ext cx="2537740" cy="4591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40"/>
              </a:lnSpc>
            </a:pPr>
            <a:r>
              <a:rPr lang="en-US" sz="2400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4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4721560" y="3393172"/>
            <a:ext cx="2537740" cy="4591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40"/>
              </a:lnSpc>
            </a:pPr>
            <a:r>
              <a:rPr lang="en-US" sz="2400" b="true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Why Now?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4721560" y="2801683"/>
            <a:ext cx="2537740" cy="4591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40"/>
              </a:lnSpc>
            </a:pPr>
            <a:r>
              <a:rPr lang="en-US" sz="2400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5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7613003" y="5571356"/>
            <a:ext cx="2537740" cy="9448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40"/>
              </a:lnSpc>
            </a:pPr>
            <a:r>
              <a:rPr lang="en-US" sz="2400" b="true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Services Overview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7613003" y="4979867"/>
            <a:ext cx="2537740" cy="4591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40"/>
              </a:lnSpc>
            </a:pPr>
            <a:r>
              <a:rPr lang="en-US" sz="2400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6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1167282" y="5571356"/>
            <a:ext cx="2537740" cy="4591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40"/>
              </a:lnSpc>
            </a:pPr>
            <a:r>
              <a:rPr lang="en-US" sz="2400" b="true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Demo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1167282" y="4979867"/>
            <a:ext cx="2537740" cy="4591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40"/>
              </a:lnSpc>
            </a:pPr>
            <a:r>
              <a:rPr lang="en-US" sz="2400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7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4721560" y="5571356"/>
            <a:ext cx="2537740" cy="4591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40"/>
              </a:lnSpc>
            </a:pPr>
            <a:r>
              <a:rPr lang="en-US" sz="2400" b="true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Roadmap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4721560" y="4979867"/>
            <a:ext cx="2537740" cy="4591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40"/>
              </a:lnSpc>
            </a:pPr>
            <a:r>
              <a:rPr lang="en-US" sz="2400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8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7613003" y="8235315"/>
            <a:ext cx="2537740" cy="4591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40"/>
              </a:lnSpc>
            </a:pPr>
            <a:r>
              <a:rPr lang="en-US" sz="2400" b="true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Team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7613003" y="7643826"/>
            <a:ext cx="2537740" cy="4591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40"/>
              </a:lnSpc>
            </a:pPr>
            <a:r>
              <a:rPr lang="en-US" sz="2400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9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50000"/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TextBox 3" id="3"/>
          <p:cNvSpPr txBox="true"/>
          <p:nvPr/>
        </p:nvSpPr>
        <p:spPr>
          <a:xfrm rot="0">
            <a:off x="2067775" y="3079603"/>
            <a:ext cx="5382337" cy="278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4479"/>
              </a:lnSpc>
            </a:pPr>
            <a:r>
              <a:rPr lang="en-US" sz="2799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TrialW</a:t>
            </a:r>
            <a:r>
              <a:rPr lang="en-US" sz="2799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a</a:t>
            </a:r>
            <a:r>
              <a:rPr lang="en-US" sz="2799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tch</a:t>
            </a:r>
            <a:r>
              <a:rPr lang="en-US" sz="2799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 </a:t>
            </a:r>
            <a:r>
              <a:rPr lang="en-US" sz="2799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ha</a:t>
            </a:r>
            <a:r>
              <a:rPr lang="en-US" sz="2799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s</a:t>
            </a:r>
            <a:r>
              <a:rPr lang="en-US" sz="2799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 graded 63 tri</a:t>
            </a:r>
            <a:r>
              <a:rPr lang="en-US" sz="2799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al</a:t>
            </a:r>
            <a:r>
              <a:rPr lang="en-US" sz="2799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s, but a </a:t>
            </a:r>
            <a:r>
              <a:rPr lang="en-US" sz="2799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l</a:t>
            </a:r>
            <a:r>
              <a:rPr lang="en-US" sz="2799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awyer</a:t>
            </a:r>
            <a:r>
              <a:rPr lang="en-US" sz="2799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 </a:t>
            </a:r>
            <a:r>
              <a:rPr lang="en-US" sz="2799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c</a:t>
            </a:r>
            <a:r>
              <a:rPr lang="en-US" sz="2799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a</a:t>
            </a:r>
            <a:r>
              <a:rPr lang="en-US" sz="2799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n't fi</a:t>
            </a:r>
            <a:r>
              <a:rPr lang="en-US" sz="2799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nd </a:t>
            </a:r>
            <a:r>
              <a:rPr lang="en-US" sz="2799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h</a:t>
            </a:r>
            <a:r>
              <a:rPr lang="en-US" sz="2799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ow </a:t>
            </a:r>
            <a:r>
              <a:rPr lang="en-US" sz="2799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a </a:t>
            </a:r>
            <a:r>
              <a:rPr lang="en-US" sz="2799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si</a:t>
            </a:r>
            <a:r>
              <a:rPr lang="en-US" sz="2799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milar ca</a:t>
            </a:r>
            <a:r>
              <a:rPr lang="en-US" sz="2799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se</a:t>
            </a:r>
            <a:r>
              <a:rPr lang="en-US" sz="2799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 wa</a:t>
            </a:r>
            <a:r>
              <a:rPr lang="en-US" sz="2799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s </a:t>
            </a:r>
            <a:r>
              <a:rPr lang="en-US" sz="2799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a</a:t>
            </a:r>
            <a:r>
              <a:rPr lang="en-US" sz="2799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rg</a:t>
            </a:r>
            <a:r>
              <a:rPr lang="en-US" sz="2799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u</a:t>
            </a:r>
            <a:r>
              <a:rPr lang="en-US" sz="2799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e</a:t>
            </a:r>
            <a:r>
              <a:rPr lang="en-US" sz="2799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d,</a:t>
            </a:r>
            <a:r>
              <a:rPr lang="en-US" sz="2799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 </a:t>
            </a:r>
            <a:r>
              <a:rPr lang="en-US" sz="2799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which</a:t>
            </a:r>
            <a:r>
              <a:rPr lang="en-US" sz="2799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 </a:t>
            </a:r>
            <a:r>
              <a:rPr lang="en-US" sz="2799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UN d</a:t>
            </a:r>
            <a:r>
              <a:rPr lang="en-US" sz="2799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ec</a:t>
            </a:r>
            <a:r>
              <a:rPr lang="en-US" sz="2799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isions</a:t>
            </a:r>
            <a:r>
              <a:rPr lang="en-US" sz="2799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 </a:t>
            </a:r>
            <a:r>
              <a:rPr lang="en-US" sz="2799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appli</a:t>
            </a:r>
            <a:r>
              <a:rPr lang="en-US" sz="2799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e</a:t>
            </a:r>
            <a:r>
              <a:rPr lang="en-US" sz="2799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d,</a:t>
            </a:r>
            <a:r>
              <a:rPr lang="en-US" sz="2799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 </a:t>
            </a:r>
            <a:r>
              <a:rPr lang="en-US" sz="2799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o</a:t>
            </a:r>
            <a:r>
              <a:rPr lang="en-US" sz="2799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r</a:t>
            </a:r>
            <a:r>
              <a:rPr lang="en-US" sz="2799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 w</a:t>
            </a:r>
            <a:r>
              <a:rPr lang="en-US" sz="2799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h</a:t>
            </a:r>
            <a:r>
              <a:rPr lang="en-US" sz="2799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a</a:t>
            </a:r>
            <a:r>
              <a:rPr lang="en-US" sz="2799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t </a:t>
            </a:r>
            <a:r>
              <a:rPr lang="en-US" sz="2799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follow</a:t>
            </a:r>
            <a:r>
              <a:rPr lang="en-US" sz="2799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e</a:t>
            </a:r>
            <a:r>
              <a:rPr lang="en-US" sz="2799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d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166399" y="3653162"/>
            <a:ext cx="529316" cy="6089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5120"/>
              </a:lnSpc>
            </a:pPr>
            <a:r>
              <a:rPr lang="en-US" b="true" sz="3200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1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2067775" y="6771643"/>
            <a:ext cx="5382337" cy="22199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4479"/>
              </a:lnSpc>
            </a:pPr>
            <a:r>
              <a:rPr lang="en-US" sz="2799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F</a:t>
            </a:r>
            <a:r>
              <a:rPr lang="en-US" sz="2799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act</a:t>
            </a:r>
            <a:r>
              <a:rPr lang="en-US" sz="2799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s</a:t>
            </a:r>
            <a:r>
              <a:rPr lang="en-US" sz="2799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 sit in co</a:t>
            </a:r>
            <a:r>
              <a:rPr lang="en-US" sz="2799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ur</a:t>
            </a:r>
            <a:r>
              <a:rPr lang="en-US" sz="2799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t</a:t>
            </a:r>
            <a:r>
              <a:rPr lang="en-US" sz="2799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 r</a:t>
            </a:r>
            <a:r>
              <a:rPr lang="en-US" sz="2799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ecords, </a:t>
            </a:r>
            <a:r>
              <a:rPr lang="en-US" sz="2799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NGO rep</a:t>
            </a:r>
            <a:r>
              <a:rPr lang="en-US" sz="2799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o</a:t>
            </a:r>
            <a:r>
              <a:rPr lang="en-US" sz="2799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r</a:t>
            </a:r>
            <a:r>
              <a:rPr lang="en-US" sz="2799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t</a:t>
            </a:r>
            <a:r>
              <a:rPr lang="en-US" sz="2799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s </a:t>
            </a:r>
            <a:r>
              <a:rPr lang="en-US" sz="2799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a</a:t>
            </a:r>
            <a:r>
              <a:rPr lang="en-US" sz="2799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n</a:t>
            </a:r>
            <a:r>
              <a:rPr lang="en-US" sz="2799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d news in sever</a:t>
            </a:r>
            <a:r>
              <a:rPr lang="en-US" sz="2799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al</a:t>
            </a:r>
            <a:r>
              <a:rPr lang="en-US" sz="2799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 languages; each UN s</a:t>
            </a:r>
            <a:r>
              <a:rPr lang="en-US" sz="2799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ubmission</a:t>
            </a:r>
            <a:r>
              <a:rPr lang="en-US" sz="2799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 is</a:t>
            </a:r>
            <a:r>
              <a:rPr lang="en-US" sz="2799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 wri</a:t>
            </a:r>
            <a:r>
              <a:rPr lang="en-US" sz="2799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tten by</a:t>
            </a:r>
            <a:r>
              <a:rPr lang="en-US" sz="2799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 hand.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166399" y="7253608"/>
            <a:ext cx="529316" cy="6089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5120"/>
              </a:lnSpc>
            </a:pPr>
            <a:r>
              <a:rPr lang="en-US" b="true" sz="3200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2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9727378" y="3021429"/>
            <a:ext cx="8307875" cy="16579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4479"/>
              </a:lnSpc>
            </a:pPr>
            <a:r>
              <a:rPr lang="en-US" sz="2799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I</a:t>
            </a:r>
            <a:r>
              <a:rPr lang="en-US" sz="2799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ndone</a:t>
            </a:r>
            <a:r>
              <a:rPr lang="en-US" sz="2799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si</a:t>
            </a:r>
            <a:r>
              <a:rPr lang="en-US" sz="2799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a revised it</a:t>
            </a:r>
            <a:r>
              <a:rPr lang="en-US" sz="2799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s sp</a:t>
            </a:r>
            <a:r>
              <a:rPr lang="en-US" sz="2799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e</a:t>
            </a:r>
            <a:r>
              <a:rPr lang="en-US" sz="2799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ech l</a:t>
            </a:r>
            <a:r>
              <a:rPr lang="en-US" sz="2799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aw (2024–25) a</a:t>
            </a:r>
            <a:r>
              <a:rPr lang="en-US" sz="2799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nd polic</a:t>
            </a:r>
            <a:r>
              <a:rPr lang="en-US" sz="2799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e pledged to comply; n</a:t>
            </a:r>
            <a:r>
              <a:rPr lang="en-US" sz="2799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o</a:t>
            </a:r>
            <a:r>
              <a:rPr lang="en-US" sz="2799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 o</a:t>
            </a:r>
            <a:r>
              <a:rPr lang="en-US" sz="2799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ne t</a:t>
            </a:r>
            <a:r>
              <a:rPr lang="en-US" sz="2799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rack</a:t>
            </a:r>
            <a:r>
              <a:rPr lang="en-US" sz="2799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s</a:t>
            </a:r>
            <a:r>
              <a:rPr lang="en-US" sz="2799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 </a:t>
            </a:r>
            <a:r>
              <a:rPr lang="en-US" sz="2799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whe</a:t>
            </a:r>
            <a:r>
              <a:rPr lang="en-US" sz="2799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ther p</a:t>
            </a:r>
            <a:r>
              <a:rPr lang="en-US" sz="2799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ros</a:t>
            </a:r>
            <a:r>
              <a:rPr lang="en-US" sz="2799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e</a:t>
            </a:r>
            <a:r>
              <a:rPr lang="en-US" sz="2799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cu</a:t>
            </a:r>
            <a:r>
              <a:rPr lang="en-US" sz="2799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ti</a:t>
            </a:r>
            <a:r>
              <a:rPr lang="en-US" sz="2799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ons </a:t>
            </a:r>
            <a:r>
              <a:rPr lang="en-US" sz="2799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s</a:t>
            </a:r>
            <a:r>
              <a:rPr lang="en-US" sz="2799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top.</a:t>
            </a:r>
          </a:p>
        </p:txBody>
      </p:sp>
      <p:grpSp>
        <p:nvGrpSpPr>
          <p:cNvPr name="Group 8" id="8"/>
          <p:cNvGrpSpPr/>
          <p:nvPr/>
        </p:nvGrpSpPr>
        <p:grpSpPr>
          <a:xfrm rot="0">
            <a:off x="8497988" y="3452592"/>
            <a:ext cx="909958" cy="909958"/>
            <a:chOff x="0" y="0"/>
            <a:chExt cx="812800" cy="8128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ln w="2857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name="TextBox 10" id="10"/>
            <p:cNvSpPr txBox="true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359"/>
                </a:lnSpc>
              </a:pPr>
            </a:p>
          </p:txBody>
        </p:sp>
      </p:grpSp>
      <p:sp>
        <p:nvSpPr>
          <p:cNvPr name="TextBox 11" id="11"/>
          <p:cNvSpPr txBox="true"/>
          <p:nvPr/>
        </p:nvSpPr>
        <p:spPr>
          <a:xfrm rot="0">
            <a:off x="8525406" y="3550702"/>
            <a:ext cx="817023" cy="6089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5120"/>
              </a:lnSpc>
            </a:pPr>
            <a:r>
              <a:rPr lang="en-US" b="true" sz="3200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3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166399" y="1233825"/>
            <a:ext cx="3822789" cy="1085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959"/>
              </a:lnSpc>
            </a:pPr>
            <a:r>
              <a:rPr lang="en-US" sz="6399">
                <a:solidFill>
                  <a:srgbClr val="000000"/>
                </a:solidFill>
                <a:latin typeface="DM Serif Display"/>
                <a:ea typeface="DM Serif Display"/>
                <a:cs typeface="DM Serif Display"/>
                <a:sym typeface="DM Serif Display"/>
              </a:rPr>
              <a:t>Problem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14584777" y="8629015"/>
            <a:ext cx="3450476" cy="2736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 marL="0" indent="0" lvl="0">
              <a:lnSpc>
                <a:spcPts val="2239"/>
              </a:lnSpc>
              <a:spcBef>
                <a:spcPct val="0"/>
              </a:spcBef>
            </a:pPr>
            <a:r>
              <a:rPr lang="en-US" sz="1599" spc="159">
                <a:solidFill>
                  <a:srgbClr val="000000">
                    <a:alpha val="49804"/>
                  </a:srgbClr>
                </a:solidFill>
                <a:latin typeface="Open Sauce"/>
                <a:ea typeface="Open Sauce"/>
                <a:cs typeface="Open Sauce"/>
                <a:sym typeface="Open Sauce"/>
              </a:rPr>
              <a:t>3</a:t>
            </a:r>
          </a:p>
        </p:txBody>
      </p:sp>
      <p:sp>
        <p:nvSpPr>
          <p:cNvPr name="AutoShape 14" id="14"/>
          <p:cNvSpPr/>
          <p:nvPr/>
        </p:nvSpPr>
        <p:spPr>
          <a:xfrm>
            <a:off x="1166399" y="1028700"/>
            <a:ext cx="687324" cy="0"/>
          </a:xfrm>
          <a:prstGeom prst="line">
            <a:avLst/>
          </a:prstGeom>
          <a:ln cap="flat" w="76200">
            <a:solidFill>
              <a:srgbClr val="000000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15" id="15"/>
          <p:cNvSpPr txBox="true"/>
          <p:nvPr/>
        </p:nvSpPr>
        <p:spPr>
          <a:xfrm rot="0">
            <a:off x="281322" y="9444355"/>
            <a:ext cx="17725355" cy="4591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840"/>
              </a:lnSpc>
              <a:spcBef>
                <a:spcPct val="0"/>
              </a:spcBef>
            </a:pPr>
            <a:r>
              <a:rPr lang="en-US" b="true" sz="2400" i="true">
                <a:solidFill>
                  <a:srgbClr val="000000"/>
                </a:solidFill>
                <a:latin typeface="Open Sauce Bold Italics"/>
                <a:ea typeface="Open Sauce Bold Italics"/>
                <a:cs typeface="Open Sauce Bold Italics"/>
                <a:sym typeface="Open Sauce Bold Italics"/>
              </a:rPr>
              <a:t>TrialWatch's human rights analysis is buried in PDFs, advocacy starts from a blank page, and reforms go unmeasured.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2067775" y="2648049"/>
            <a:ext cx="4766197" cy="4591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40"/>
              </a:lnSpc>
            </a:pPr>
            <a:r>
              <a:rPr lang="en-US" sz="2400" b="true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90 reports, not searchable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2067775" y="6343971"/>
            <a:ext cx="4766197" cy="4591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40"/>
              </a:lnSpc>
            </a:pPr>
            <a:r>
              <a:rPr lang="en-US" sz="2400" b="true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Letters written from scratch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9727378" y="2600424"/>
            <a:ext cx="7356835" cy="4591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40"/>
              </a:lnSpc>
            </a:pPr>
            <a:r>
              <a:rPr lang="en-US" sz="2400" b="true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Reforms nobody measures</a:t>
            </a:r>
          </a:p>
        </p:txBody>
      </p:sp>
      <p:grpSp>
        <p:nvGrpSpPr>
          <p:cNvPr name="Group 19" id="19"/>
          <p:cNvGrpSpPr/>
          <p:nvPr/>
        </p:nvGrpSpPr>
        <p:grpSpPr>
          <a:xfrm rot="0">
            <a:off x="976077" y="3553268"/>
            <a:ext cx="909958" cy="909958"/>
            <a:chOff x="0" y="0"/>
            <a:chExt cx="812800" cy="81280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ln w="2857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name="TextBox 21" id="21"/>
            <p:cNvSpPr txBox="true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359"/>
                </a:lnSpc>
              </a:pPr>
            </a:p>
          </p:txBody>
        </p:sp>
      </p:grpSp>
      <p:grpSp>
        <p:nvGrpSpPr>
          <p:cNvPr name="Group 22" id="22"/>
          <p:cNvGrpSpPr/>
          <p:nvPr/>
        </p:nvGrpSpPr>
        <p:grpSpPr>
          <a:xfrm rot="0">
            <a:off x="976077" y="7165024"/>
            <a:ext cx="909958" cy="909958"/>
            <a:chOff x="0" y="0"/>
            <a:chExt cx="812800" cy="81280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ln w="2857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name="TextBox 24" id="24"/>
            <p:cNvSpPr txBox="true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359"/>
                </a:lnSpc>
              </a:pPr>
            </a:p>
          </p:txBody>
        </p:sp>
      </p:grp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50000"/>
            </a:blip>
            <a:stretch>
              <a:fillRect l="-1049" t="-1049" r="-1049" b="-1049"/>
            </a:stretch>
          </a:blipFill>
          <a:ln cap="sq">
            <a:noFill/>
            <a:prstDash val="solid"/>
            <a:miter/>
          </a:ln>
        </p:spPr>
      </p:sp>
      <p:grpSp>
        <p:nvGrpSpPr>
          <p:cNvPr name="Group 3" id="3"/>
          <p:cNvGrpSpPr/>
          <p:nvPr/>
        </p:nvGrpSpPr>
        <p:grpSpPr>
          <a:xfrm rot="0">
            <a:off x="1166399" y="2604790"/>
            <a:ext cx="5026174" cy="5912783"/>
            <a:chOff x="0" y="0"/>
            <a:chExt cx="4489517" cy="5281461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489517" cy="5281461"/>
            </a:xfrm>
            <a:custGeom>
              <a:avLst/>
              <a:gdLst/>
              <a:ahLst/>
              <a:cxnLst/>
              <a:rect r="r" b="b" t="t" l="l"/>
              <a:pathLst>
                <a:path h="5281461" w="4489517">
                  <a:moveTo>
                    <a:pt x="22993" y="0"/>
                  </a:moveTo>
                  <a:lnTo>
                    <a:pt x="4466525" y="0"/>
                  </a:lnTo>
                  <a:cubicBezTo>
                    <a:pt x="4479223" y="0"/>
                    <a:pt x="4489517" y="10294"/>
                    <a:pt x="4489517" y="22993"/>
                  </a:cubicBezTo>
                  <a:lnTo>
                    <a:pt x="4489517" y="5258469"/>
                  </a:lnTo>
                  <a:cubicBezTo>
                    <a:pt x="4489517" y="5271167"/>
                    <a:pt x="4479223" y="5281461"/>
                    <a:pt x="4466525" y="5281461"/>
                  </a:cubicBezTo>
                  <a:lnTo>
                    <a:pt x="22993" y="5281461"/>
                  </a:lnTo>
                  <a:cubicBezTo>
                    <a:pt x="10294" y="5281461"/>
                    <a:pt x="0" y="5271167"/>
                    <a:pt x="0" y="5258469"/>
                  </a:cubicBezTo>
                  <a:lnTo>
                    <a:pt x="0" y="22993"/>
                  </a:lnTo>
                  <a:cubicBezTo>
                    <a:pt x="0" y="10294"/>
                    <a:pt x="10294" y="0"/>
                    <a:pt x="22993" y="0"/>
                  </a:cubicBezTo>
                  <a:close/>
                </a:path>
              </a:pathLst>
            </a:custGeom>
            <a:solidFill>
              <a:srgbClr val="FFFFFF">
                <a:alpha val="49804"/>
              </a:srgbClr>
            </a:solidFill>
            <a:ln w="28575" cap="sq">
              <a:solidFill>
                <a:srgbClr val="000000">
                  <a:alpha val="49804"/>
                </a:srgbClr>
              </a:solidFill>
              <a:prstDash val="solid"/>
              <a:miter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0" y="-47625"/>
              <a:ext cx="4489517" cy="532908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r">
                <a:lnSpc>
                  <a:spcPts val="3359"/>
                </a:lnSpc>
              </a:pPr>
            </a:p>
          </p:txBody>
        </p:sp>
      </p:grpSp>
      <p:sp>
        <p:nvSpPr>
          <p:cNvPr name="AutoShape 6" id="6"/>
          <p:cNvSpPr/>
          <p:nvPr/>
        </p:nvSpPr>
        <p:spPr>
          <a:xfrm>
            <a:off x="1166399" y="1028700"/>
            <a:ext cx="687324" cy="0"/>
          </a:xfrm>
          <a:prstGeom prst="line">
            <a:avLst/>
          </a:prstGeom>
          <a:ln cap="flat" w="76200">
            <a:solidFill>
              <a:srgbClr val="000000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7" id="7"/>
          <p:cNvGrpSpPr/>
          <p:nvPr/>
        </p:nvGrpSpPr>
        <p:grpSpPr>
          <a:xfrm rot="0">
            <a:off x="6630723" y="2604790"/>
            <a:ext cx="5026555" cy="5912783"/>
            <a:chOff x="0" y="0"/>
            <a:chExt cx="4489857" cy="5281461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4489857" cy="5281461"/>
            </a:xfrm>
            <a:custGeom>
              <a:avLst/>
              <a:gdLst/>
              <a:ahLst/>
              <a:cxnLst/>
              <a:rect r="r" b="b" t="t" l="l"/>
              <a:pathLst>
                <a:path h="5281461" w="4489857">
                  <a:moveTo>
                    <a:pt x="22991" y="0"/>
                  </a:moveTo>
                  <a:lnTo>
                    <a:pt x="4466866" y="0"/>
                  </a:lnTo>
                  <a:cubicBezTo>
                    <a:pt x="4479564" y="0"/>
                    <a:pt x="4489857" y="10293"/>
                    <a:pt x="4489857" y="22991"/>
                  </a:cubicBezTo>
                  <a:lnTo>
                    <a:pt x="4489857" y="5258471"/>
                  </a:lnTo>
                  <a:cubicBezTo>
                    <a:pt x="4489857" y="5271168"/>
                    <a:pt x="4479564" y="5281461"/>
                    <a:pt x="4466866" y="5281461"/>
                  </a:cubicBezTo>
                  <a:lnTo>
                    <a:pt x="22991" y="5281461"/>
                  </a:lnTo>
                  <a:cubicBezTo>
                    <a:pt x="10293" y="5281461"/>
                    <a:pt x="0" y="5271168"/>
                    <a:pt x="0" y="5258471"/>
                  </a:cubicBezTo>
                  <a:lnTo>
                    <a:pt x="0" y="22991"/>
                  </a:lnTo>
                  <a:cubicBezTo>
                    <a:pt x="0" y="10293"/>
                    <a:pt x="10293" y="0"/>
                    <a:pt x="22991" y="0"/>
                  </a:cubicBezTo>
                  <a:close/>
                </a:path>
              </a:pathLst>
            </a:custGeom>
            <a:solidFill>
              <a:srgbClr val="FFFFFF">
                <a:alpha val="49804"/>
              </a:srgbClr>
            </a:solidFill>
            <a:ln w="28575" cap="sq">
              <a:solidFill>
                <a:srgbClr val="000000">
                  <a:alpha val="49804"/>
                </a:srgbClr>
              </a:solidFill>
              <a:prstDash val="solid"/>
              <a:miter/>
            </a:ln>
          </p:spPr>
        </p:sp>
        <p:sp>
          <p:nvSpPr>
            <p:cNvPr name="TextBox 9" id="9"/>
            <p:cNvSpPr txBox="true"/>
            <p:nvPr/>
          </p:nvSpPr>
          <p:spPr>
            <a:xfrm>
              <a:off x="0" y="-47625"/>
              <a:ext cx="4489857" cy="532908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359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12095047" y="2604790"/>
            <a:ext cx="5026555" cy="5912783"/>
            <a:chOff x="0" y="0"/>
            <a:chExt cx="4489857" cy="5281461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4489857" cy="5281461"/>
            </a:xfrm>
            <a:custGeom>
              <a:avLst/>
              <a:gdLst/>
              <a:ahLst/>
              <a:cxnLst/>
              <a:rect r="r" b="b" t="t" l="l"/>
              <a:pathLst>
                <a:path h="5281461" w="4489857">
                  <a:moveTo>
                    <a:pt x="22991" y="0"/>
                  </a:moveTo>
                  <a:lnTo>
                    <a:pt x="4466866" y="0"/>
                  </a:lnTo>
                  <a:cubicBezTo>
                    <a:pt x="4479564" y="0"/>
                    <a:pt x="4489857" y="10293"/>
                    <a:pt x="4489857" y="22991"/>
                  </a:cubicBezTo>
                  <a:lnTo>
                    <a:pt x="4489857" y="5258471"/>
                  </a:lnTo>
                  <a:cubicBezTo>
                    <a:pt x="4489857" y="5271168"/>
                    <a:pt x="4479564" y="5281461"/>
                    <a:pt x="4466866" y="5281461"/>
                  </a:cubicBezTo>
                  <a:lnTo>
                    <a:pt x="22991" y="5281461"/>
                  </a:lnTo>
                  <a:cubicBezTo>
                    <a:pt x="10293" y="5281461"/>
                    <a:pt x="0" y="5271168"/>
                    <a:pt x="0" y="5258471"/>
                  </a:cubicBezTo>
                  <a:lnTo>
                    <a:pt x="0" y="22991"/>
                  </a:lnTo>
                  <a:cubicBezTo>
                    <a:pt x="0" y="10293"/>
                    <a:pt x="10293" y="0"/>
                    <a:pt x="22991" y="0"/>
                  </a:cubicBezTo>
                  <a:close/>
                </a:path>
              </a:pathLst>
            </a:custGeom>
            <a:solidFill>
              <a:srgbClr val="FFFFFF">
                <a:alpha val="49804"/>
              </a:srgbClr>
            </a:solidFill>
            <a:ln w="28575" cap="sq">
              <a:solidFill>
                <a:srgbClr val="000000">
                  <a:alpha val="49804"/>
                </a:srgbClr>
              </a:solidFill>
              <a:prstDash val="solid"/>
              <a:miter/>
            </a:ln>
          </p:spPr>
        </p:sp>
        <p:sp>
          <p:nvSpPr>
            <p:cNvPr name="TextBox 12" id="12"/>
            <p:cNvSpPr txBox="true"/>
            <p:nvPr/>
          </p:nvSpPr>
          <p:spPr>
            <a:xfrm>
              <a:off x="0" y="-47625"/>
              <a:ext cx="4489857" cy="532908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359"/>
                </a:lnSpc>
              </a:pP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1166399" y="1233825"/>
            <a:ext cx="3822789" cy="1085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959"/>
              </a:lnSpc>
            </a:pPr>
            <a:r>
              <a:rPr lang="en-US" sz="6399">
                <a:solidFill>
                  <a:srgbClr val="000000"/>
                </a:solidFill>
                <a:latin typeface="DM Serif Display"/>
                <a:ea typeface="DM Serif Display"/>
                <a:cs typeface="DM Serif Display"/>
                <a:sym typeface="DM Serif Display"/>
              </a:rPr>
              <a:t>Solution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729971" y="3858477"/>
            <a:ext cx="3899029" cy="44248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3938"/>
              </a:lnSpc>
            </a:pPr>
            <a:r>
              <a:rPr lang="en-US" sz="2461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47 TrialWatch trials in 23 countries. For any case:</a:t>
            </a:r>
            <a:r>
              <a:rPr lang="en-US" sz="2461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 the close</a:t>
            </a:r>
            <a:r>
              <a:rPr lang="en-US" sz="2461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st tr</a:t>
            </a:r>
            <a:r>
              <a:rPr lang="en-US" sz="2461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i</a:t>
            </a:r>
            <a:r>
              <a:rPr lang="en-US" sz="2461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a</a:t>
            </a:r>
            <a:r>
              <a:rPr lang="en-US" sz="2461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ls, good outcome</a:t>
            </a:r>
            <a:r>
              <a:rPr lang="en-US" sz="2461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s first</a:t>
            </a:r>
            <a:r>
              <a:rPr lang="en-US" sz="2461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, and their argument</a:t>
            </a:r>
            <a:r>
              <a:rPr lang="en-US" sz="2461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s </a:t>
            </a:r>
            <a:r>
              <a:rPr lang="en-US" sz="2461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o</a:t>
            </a:r>
            <a:r>
              <a:rPr lang="en-US" sz="2461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n legality, vagu</a:t>
            </a:r>
            <a:r>
              <a:rPr lang="en-US" sz="2461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eness, broadness, necessity a</a:t>
            </a:r>
            <a:r>
              <a:rPr lang="en-US" sz="2461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nd p</a:t>
            </a:r>
            <a:r>
              <a:rPr lang="en-US" sz="2461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roportionality, with a</a:t>
            </a:r>
            <a:r>
              <a:rPr lang="en-US" sz="2461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utho</a:t>
            </a:r>
            <a:r>
              <a:rPr lang="en-US" sz="2461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r</a:t>
            </a:r>
            <a:r>
              <a:rPr lang="en-US" sz="2461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 a</a:t>
            </a:r>
            <a:r>
              <a:rPr lang="en-US" sz="2461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nd page.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166399" y="9142095"/>
            <a:ext cx="3450476" cy="2736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239"/>
              </a:lnSpc>
              <a:spcBef>
                <a:spcPct val="0"/>
              </a:spcBef>
            </a:pPr>
            <a:r>
              <a:rPr lang="en-US" sz="1599" spc="159" strike="noStrike" u="none">
                <a:solidFill>
                  <a:srgbClr val="000000">
                    <a:alpha val="49804"/>
                  </a:srgbClr>
                </a:solidFill>
                <a:latin typeface="Open Sauce"/>
                <a:ea typeface="Open Sauce"/>
                <a:cs typeface="Open Sauce"/>
                <a:sym typeface="Open Sauce"/>
              </a:rPr>
              <a:t>STUDIO SHODWE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3671125" y="9142095"/>
            <a:ext cx="3450476" cy="2736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 marL="0" indent="0" lvl="0">
              <a:lnSpc>
                <a:spcPts val="2239"/>
              </a:lnSpc>
              <a:spcBef>
                <a:spcPct val="0"/>
              </a:spcBef>
            </a:pPr>
            <a:r>
              <a:rPr lang="en-US" sz="1599" spc="159">
                <a:solidFill>
                  <a:srgbClr val="000000">
                    <a:alpha val="49804"/>
                  </a:srgbClr>
                </a:solidFill>
                <a:latin typeface="Open Sauce"/>
                <a:ea typeface="Open Sauce"/>
                <a:cs typeface="Open Sauce"/>
                <a:sym typeface="Open Sauce"/>
              </a:rPr>
              <a:t>4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7005583" y="4845981"/>
            <a:ext cx="4276833" cy="34373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3936"/>
              </a:lnSpc>
            </a:pPr>
            <a:r>
              <a:rPr lang="en-US" sz="2460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A Special</a:t>
            </a:r>
            <a:r>
              <a:rPr lang="en-US" sz="246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 Rapporteur submission where </a:t>
            </a:r>
            <a:r>
              <a:rPr lang="en-US" sz="246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eve</a:t>
            </a:r>
            <a:r>
              <a:rPr lang="en-US" sz="246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r</a:t>
            </a:r>
            <a:r>
              <a:rPr lang="en-US" sz="246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y sen</a:t>
            </a:r>
            <a:r>
              <a:rPr lang="en-US" sz="246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tence cites its source, quotes a</a:t>
            </a:r>
            <a:r>
              <a:rPr lang="en-US" sz="246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re</a:t>
            </a:r>
            <a:r>
              <a:rPr lang="en-US" sz="246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 checked wo</a:t>
            </a:r>
            <a:r>
              <a:rPr lang="en-US" sz="246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r</a:t>
            </a:r>
            <a:r>
              <a:rPr lang="en-US" sz="246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d</a:t>
            </a:r>
            <a:r>
              <a:rPr lang="en-US" sz="246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 fo</a:t>
            </a:r>
            <a:r>
              <a:rPr lang="en-US" sz="246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r word, and a lawyer approves.</a:t>
            </a:r>
          </a:p>
          <a:p>
            <a:pPr algn="ctr" marL="0" indent="0" lvl="0">
              <a:lnSpc>
                <a:spcPts val="3936"/>
              </a:lnSpc>
            </a:pPr>
          </a:p>
        </p:txBody>
      </p:sp>
      <p:sp>
        <p:nvSpPr>
          <p:cNvPr name="TextBox 18" id="18"/>
          <p:cNvSpPr txBox="true"/>
          <p:nvPr/>
        </p:nvSpPr>
        <p:spPr>
          <a:xfrm rot="0">
            <a:off x="12466902" y="4845981"/>
            <a:ext cx="4276833" cy="29420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3936"/>
              </a:lnSpc>
            </a:pPr>
            <a:r>
              <a:rPr lang="en-US" sz="2460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Where a </a:t>
            </a:r>
            <a:r>
              <a:rPr lang="en-US" sz="246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law just changed: 5 of 13 past Indonesian cases would likely be barred today </a:t>
            </a:r>
            <a:r>
              <a:rPr lang="en-US" sz="246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(3–8</a:t>
            </a:r>
            <a:r>
              <a:rPr lang="en-US" sz="246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 </a:t>
            </a:r>
            <a:r>
              <a:rPr lang="en-US" sz="246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acr</a:t>
            </a:r>
            <a:r>
              <a:rPr lang="en-US" sz="246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oss legal readings).</a:t>
            </a:r>
          </a:p>
          <a:p>
            <a:pPr algn="ctr" marL="0" indent="0" lvl="0">
              <a:lnSpc>
                <a:spcPts val="3936"/>
              </a:lnSpc>
            </a:pPr>
          </a:p>
        </p:txBody>
      </p:sp>
      <p:sp>
        <p:nvSpPr>
          <p:cNvPr name="Freeform 19" id="19"/>
          <p:cNvSpPr/>
          <p:nvPr/>
        </p:nvSpPr>
        <p:spPr>
          <a:xfrm flipH="false" flipV="false" rot="0">
            <a:off x="7914754" y="3001227"/>
            <a:ext cx="1683382" cy="1683382"/>
          </a:xfrm>
          <a:custGeom>
            <a:avLst/>
            <a:gdLst/>
            <a:ahLst/>
            <a:cxnLst/>
            <a:rect r="r" b="b" t="t" l="l"/>
            <a:pathLst>
              <a:path h="1683382" w="1683382">
                <a:moveTo>
                  <a:pt x="0" y="0"/>
                </a:moveTo>
                <a:lnTo>
                  <a:pt x="1683382" y="0"/>
                </a:lnTo>
                <a:lnTo>
                  <a:pt x="1683382" y="1683382"/>
                </a:lnTo>
                <a:lnTo>
                  <a:pt x="0" y="1683382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90000"/>
            </a:blip>
            <a:stretch>
              <a:fillRect l="0" t="0" r="0" b="0"/>
            </a:stretch>
          </a:blipFill>
        </p:spPr>
      </p:sp>
      <p:sp>
        <p:nvSpPr>
          <p:cNvPr name="Freeform 20" id="20"/>
          <p:cNvSpPr/>
          <p:nvPr/>
        </p:nvSpPr>
        <p:spPr>
          <a:xfrm flipH="false" flipV="false" rot="0">
            <a:off x="2891637" y="2745983"/>
            <a:ext cx="1047750" cy="1047750"/>
          </a:xfrm>
          <a:custGeom>
            <a:avLst/>
            <a:gdLst/>
            <a:ahLst/>
            <a:cxnLst/>
            <a:rect r="r" b="b" t="t" l="l"/>
            <a:pathLst>
              <a:path h="1047750" w="1047750">
                <a:moveTo>
                  <a:pt x="0" y="0"/>
                </a:moveTo>
                <a:lnTo>
                  <a:pt x="1047750" y="0"/>
                </a:lnTo>
                <a:lnTo>
                  <a:pt x="1047750" y="1047750"/>
                </a:lnTo>
                <a:lnTo>
                  <a:pt x="0" y="104775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92000"/>
            </a:blip>
            <a:stretch>
              <a:fillRect l="0" t="0" r="0" b="0"/>
            </a:stretch>
          </a:blipFill>
        </p:spPr>
      </p:sp>
      <p:sp>
        <p:nvSpPr>
          <p:cNvPr name="Freeform 21" id="21"/>
          <p:cNvSpPr/>
          <p:nvPr/>
        </p:nvSpPr>
        <p:spPr>
          <a:xfrm flipH="false" flipV="false" rot="0">
            <a:off x="14108262" y="3453664"/>
            <a:ext cx="1000125" cy="1000125"/>
          </a:xfrm>
          <a:custGeom>
            <a:avLst/>
            <a:gdLst/>
            <a:ahLst/>
            <a:cxnLst/>
            <a:rect r="r" b="b" t="t" l="l"/>
            <a:pathLst>
              <a:path h="1000125" w="1000125">
                <a:moveTo>
                  <a:pt x="0" y="0"/>
                </a:moveTo>
                <a:lnTo>
                  <a:pt x="1000125" y="0"/>
                </a:lnTo>
                <a:lnTo>
                  <a:pt x="1000125" y="1000125"/>
                </a:lnTo>
                <a:lnTo>
                  <a:pt x="0" y="1000125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alphaModFix amt="90000"/>
            </a:blip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2929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1566119">
            <a:off x="-3457675" y="7234704"/>
            <a:ext cx="18288000" cy="7666282"/>
          </a:xfrm>
          <a:custGeom>
            <a:avLst/>
            <a:gdLst/>
            <a:ahLst/>
            <a:cxnLst/>
            <a:rect r="r" b="b" t="t" l="l"/>
            <a:pathLst>
              <a:path h="7666282" w="18288000">
                <a:moveTo>
                  <a:pt x="0" y="0"/>
                </a:moveTo>
                <a:lnTo>
                  <a:pt x="18288000" y="0"/>
                </a:lnTo>
                <a:lnTo>
                  <a:pt x="18288000" y="7666282"/>
                </a:lnTo>
                <a:lnTo>
                  <a:pt x="0" y="766628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-5400000">
            <a:off x="16076393" y="-1522092"/>
            <a:ext cx="1628904" cy="4000298"/>
          </a:xfrm>
          <a:custGeom>
            <a:avLst/>
            <a:gdLst/>
            <a:ahLst/>
            <a:cxnLst/>
            <a:rect r="r" b="b" t="t" l="l"/>
            <a:pathLst>
              <a:path h="4000298" w="1628904">
                <a:moveTo>
                  <a:pt x="0" y="0"/>
                </a:moveTo>
                <a:lnTo>
                  <a:pt x="1628905" y="0"/>
                </a:lnTo>
                <a:lnTo>
                  <a:pt x="1628905" y="4000298"/>
                </a:lnTo>
                <a:lnTo>
                  <a:pt x="0" y="400029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028700" y="8583758"/>
            <a:ext cx="844473" cy="674542"/>
          </a:xfrm>
          <a:custGeom>
            <a:avLst/>
            <a:gdLst/>
            <a:ahLst/>
            <a:cxnLst/>
            <a:rect r="r" b="b" t="t" l="l"/>
            <a:pathLst>
              <a:path h="674542" w="844473">
                <a:moveTo>
                  <a:pt x="0" y="0"/>
                </a:moveTo>
                <a:lnTo>
                  <a:pt x="844473" y="0"/>
                </a:lnTo>
                <a:lnTo>
                  <a:pt x="844473" y="674542"/>
                </a:lnTo>
                <a:lnTo>
                  <a:pt x="0" y="67454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-5400000">
            <a:off x="7190400" y="6987944"/>
            <a:ext cx="3907200" cy="6598113"/>
          </a:xfrm>
          <a:custGeom>
            <a:avLst/>
            <a:gdLst/>
            <a:ahLst/>
            <a:cxnLst/>
            <a:rect r="r" b="b" t="t" l="l"/>
            <a:pathLst>
              <a:path h="6598113" w="3907200">
                <a:moveTo>
                  <a:pt x="0" y="0"/>
                </a:moveTo>
                <a:lnTo>
                  <a:pt x="3907200" y="0"/>
                </a:lnTo>
                <a:lnTo>
                  <a:pt x="3907200" y="6598112"/>
                </a:lnTo>
                <a:lnTo>
                  <a:pt x="0" y="659811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-76851" y="-1940433"/>
            <a:ext cx="2211103" cy="4419400"/>
          </a:xfrm>
          <a:custGeom>
            <a:avLst/>
            <a:gdLst/>
            <a:ahLst/>
            <a:cxnLst/>
            <a:rect r="r" b="b" t="t" l="l"/>
            <a:pathLst>
              <a:path h="4419400" w="2211103">
                <a:moveTo>
                  <a:pt x="0" y="0"/>
                </a:moveTo>
                <a:lnTo>
                  <a:pt x="2211102" y="0"/>
                </a:lnTo>
                <a:lnTo>
                  <a:pt x="2211102" y="4419399"/>
                </a:lnTo>
                <a:lnTo>
                  <a:pt x="0" y="441939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-384597">
            <a:off x="12292235" y="5730808"/>
            <a:ext cx="5695058" cy="5705900"/>
          </a:xfrm>
          <a:custGeom>
            <a:avLst/>
            <a:gdLst/>
            <a:ahLst/>
            <a:cxnLst/>
            <a:rect r="r" b="b" t="t" l="l"/>
            <a:pathLst>
              <a:path h="5705900" w="5695058">
                <a:moveTo>
                  <a:pt x="0" y="0"/>
                </a:moveTo>
                <a:lnTo>
                  <a:pt x="5695058" y="0"/>
                </a:lnTo>
                <a:lnTo>
                  <a:pt x="5695058" y="5705900"/>
                </a:lnTo>
                <a:lnTo>
                  <a:pt x="0" y="5705900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-42113" b="0"/>
            </a:stretch>
          </a:blipFill>
        </p:spPr>
      </p:sp>
      <p:sp>
        <p:nvSpPr>
          <p:cNvPr name="TextBox 8" id="8"/>
          <p:cNvSpPr txBox="true"/>
          <p:nvPr/>
        </p:nvSpPr>
        <p:spPr>
          <a:xfrm rot="0">
            <a:off x="1382725" y="2454240"/>
            <a:ext cx="16035890" cy="141092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0485"/>
              </a:lnSpc>
            </a:pPr>
            <a:r>
              <a:rPr lang="en-US" sz="10922" b="true">
                <a:solidFill>
                  <a:srgbClr val="FFFFFF"/>
                </a:solidFill>
                <a:latin typeface="Formula Heavy"/>
                <a:ea typeface="Formula Heavy"/>
                <a:cs typeface="Formula Heavy"/>
                <a:sym typeface="Formula Heavy"/>
              </a:rPr>
              <a:t>WHY NOW? HUMAN</a:t>
            </a:r>
            <a:r>
              <a:rPr lang="en-US" b="true" sz="10922">
                <a:solidFill>
                  <a:srgbClr val="FFFFFF"/>
                </a:solidFill>
                <a:latin typeface="Formula Heavy"/>
                <a:ea typeface="Formula Heavy"/>
                <a:cs typeface="Formula Heavy"/>
                <a:sym typeface="Formula Heavy"/>
              </a:rPr>
              <a:t> RIGHTS IMPACT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519710" y="3998245"/>
            <a:ext cx="16898905" cy="8604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74"/>
              </a:lnSpc>
            </a:pPr>
            <a:r>
              <a:rPr lang="en-US" sz="2499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B</a:t>
            </a:r>
            <a:r>
              <a:rPr lang="en-US" sz="2499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ehind each row is a person. Laras Faizati Khairunnisa shared an Instagram Story about a police headquarters during the August 2025 unrest and was convicted in January 2026, receiving six months of supervision rather than prison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4933751" y="6541339"/>
            <a:ext cx="9504177" cy="9448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840"/>
              </a:lnSpc>
              <a:spcBef>
                <a:spcPct val="0"/>
              </a:spcBef>
            </a:pPr>
            <a:r>
              <a:rPr lang="en-US" sz="2400">
                <a:solidFill>
                  <a:srgbClr val="FFFFFF"/>
                </a:solidFill>
                <a:latin typeface="Open Sauce"/>
                <a:ea typeface="Open Sauce"/>
                <a:cs typeface="Open Sauce"/>
                <a:sym typeface="Open Sauce"/>
              </a:rPr>
              <a:t>Fatia &amp; Haris spent about 3 years under prosecution for discussing a human rights report.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50000"/>
            </a:blip>
            <a:stretch>
              <a:fillRect l="-1049" t="-1049" r="-1049" b="-1049"/>
            </a:stretch>
          </a:blipFill>
          <a:ln cap="sq">
            <a:noFill/>
            <a:prstDash val="solid"/>
            <a:miter/>
          </a:ln>
        </p:spPr>
      </p:sp>
      <p:grpSp>
        <p:nvGrpSpPr>
          <p:cNvPr name="Group 3" id="3"/>
          <p:cNvGrpSpPr/>
          <p:nvPr/>
        </p:nvGrpSpPr>
        <p:grpSpPr>
          <a:xfrm rot="0">
            <a:off x="1166399" y="2604790"/>
            <a:ext cx="5026174" cy="5912783"/>
            <a:chOff x="0" y="0"/>
            <a:chExt cx="4489517" cy="5281461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489517" cy="5281461"/>
            </a:xfrm>
            <a:custGeom>
              <a:avLst/>
              <a:gdLst/>
              <a:ahLst/>
              <a:cxnLst/>
              <a:rect r="r" b="b" t="t" l="l"/>
              <a:pathLst>
                <a:path h="5281461" w="4489517">
                  <a:moveTo>
                    <a:pt x="22993" y="0"/>
                  </a:moveTo>
                  <a:lnTo>
                    <a:pt x="4466525" y="0"/>
                  </a:lnTo>
                  <a:cubicBezTo>
                    <a:pt x="4479223" y="0"/>
                    <a:pt x="4489517" y="10294"/>
                    <a:pt x="4489517" y="22993"/>
                  </a:cubicBezTo>
                  <a:lnTo>
                    <a:pt x="4489517" y="5258469"/>
                  </a:lnTo>
                  <a:cubicBezTo>
                    <a:pt x="4489517" y="5271167"/>
                    <a:pt x="4479223" y="5281461"/>
                    <a:pt x="4466525" y="5281461"/>
                  </a:cubicBezTo>
                  <a:lnTo>
                    <a:pt x="22993" y="5281461"/>
                  </a:lnTo>
                  <a:cubicBezTo>
                    <a:pt x="10294" y="5281461"/>
                    <a:pt x="0" y="5271167"/>
                    <a:pt x="0" y="5258469"/>
                  </a:cubicBezTo>
                  <a:lnTo>
                    <a:pt x="0" y="22993"/>
                  </a:lnTo>
                  <a:cubicBezTo>
                    <a:pt x="0" y="10294"/>
                    <a:pt x="10294" y="0"/>
                    <a:pt x="22993" y="0"/>
                  </a:cubicBezTo>
                  <a:close/>
                </a:path>
              </a:pathLst>
            </a:custGeom>
            <a:solidFill>
              <a:srgbClr val="FFFFFF">
                <a:alpha val="49804"/>
              </a:srgbClr>
            </a:solidFill>
            <a:ln w="28575" cap="sq">
              <a:solidFill>
                <a:srgbClr val="000000">
                  <a:alpha val="49804"/>
                </a:srgbClr>
              </a:solidFill>
              <a:prstDash val="solid"/>
              <a:miter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0" y="-47625"/>
              <a:ext cx="4489517" cy="532908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r">
                <a:lnSpc>
                  <a:spcPts val="3359"/>
                </a:lnSpc>
              </a:pPr>
            </a:p>
          </p:txBody>
        </p:sp>
      </p:grpSp>
      <p:sp>
        <p:nvSpPr>
          <p:cNvPr name="AutoShape 6" id="6"/>
          <p:cNvSpPr/>
          <p:nvPr/>
        </p:nvSpPr>
        <p:spPr>
          <a:xfrm>
            <a:off x="1166399" y="1028700"/>
            <a:ext cx="687324" cy="0"/>
          </a:xfrm>
          <a:prstGeom prst="line">
            <a:avLst/>
          </a:prstGeom>
          <a:ln cap="flat" w="76200">
            <a:solidFill>
              <a:srgbClr val="000000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7" id="7"/>
          <p:cNvGrpSpPr/>
          <p:nvPr/>
        </p:nvGrpSpPr>
        <p:grpSpPr>
          <a:xfrm rot="0">
            <a:off x="6630723" y="2604790"/>
            <a:ext cx="5026555" cy="5912783"/>
            <a:chOff x="0" y="0"/>
            <a:chExt cx="4489857" cy="5281461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4489857" cy="5281461"/>
            </a:xfrm>
            <a:custGeom>
              <a:avLst/>
              <a:gdLst/>
              <a:ahLst/>
              <a:cxnLst/>
              <a:rect r="r" b="b" t="t" l="l"/>
              <a:pathLst>
                <a:path h="5281461" w="4489857">
                  <a:moveTo>
                    <a:pt x="22991" y="0"/>
                  </a:moveTo>
                  <a:lnTo>
                    <a:pt x="4466866" y="0"/>
                  </a:lnTo>
                  <a:cubicBezTo>
                    <a:pt x="4479564" y="0"/>
                    <a:pt x="4489857" y="10293"/>
                    <a:pt x="4489857" y="22991"/>
                  </a:cubicBezTo>
                  <a:lnTo>
                    <a:pt x="4489857" y="5258471"/>
                  </a:lnTo>
                  <a:cubicBezTo>
                    <a:pt x="4489857" y="5271168"/>
                    <a:pt x="4479564" y="5281461"/>
                    <a:pt x="4466866" y="5281461"/>
                  </a:cubicBezTo>
                  <a:lnTo>
                    <a:pt x="22991" y="5281461"/>
                  </a:lnTo>
                  <a:cubicBezTo>
                    <a:pt x="10293" y="5281461"/>
                    <a:pt x="0" y="5271168"/>
                    <a:pt x="0" y="5258471"/>
                  </a:cubicBezTo>
                  <a:lnTo>
                    <a:pt x="0" y="22991"/>
                  </a:lnTo>
                  <a:cubicBezTo>
                    <a:pt x="0" y="10293"/>
                    <a:pt x="10293" y="0"/>
                    <a:pt x="22991" y="0"/>
                  </a:cubicBezTo>
                  <a:close/>
                </a:path>
              </a:pathLst>
            </a:custGeom>
            <a:solidFill>
              <a:srgbClr val="FFFFFF">
                <a:alpha val="49804"/>
              </a:srgbClr>
            </a:solidFill>
            <a:ln w="28575" cap="sq">
              <a:solidFill>
                <a:srgbClr val="000000">
                  <a:alpha val="49804"/>
                </a:srgbClr>
              </a:solidFill>
              <a:prstDash val="solid"/>
              <a:miter/>
            </a:ln>
          </p:spPr>
        </p:sp>
        <p:sp>
          <p:nvSpPr>
            <p:cNvPr name="TextBox 9" id="9"/>
            <p:cNvSpPr txBox="true"/>
            <p:nvPr/>
          </p:nvSpPr>
          <p:spPr>
            <a:xfrm>
              <a:off x="0" y="-47625"/>
              <a:ext cx="4489857" cy="532908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359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12095047" y="2604790"/>
            <a:ext cx="5026555" cy="5912783"/>
            <a:chOff x="0" y="0"/>
            <a:chExt cx="4489857" cy="5281461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4489857" cy="5281461"/>
            </a:xfrm>
            <a:custGeom>
              <a:avLst/>
              <a:gdLst/>
              <a:ahLst/>
              <a:cxnLst/>
              <a:rect r="r" b="b" t="t" l="l"/>
              <a:pathLst>
                <a:path h="5281461" w="4489857">
                  <a:moveTo>
                    <a:pt x="22991" y="0"/>
                  </a:moveTo>
                  <a:lnTo>
                    <a:pt x="4466866" y="0"/>
                  </a:lnTo>
                  <a:cubicBezTo>
                    <a:pt x="4479564" y="0"/>
                    <a:pt x="4489857" y="10293"/>
                    <a:pt x="4489857" y="22991"/>
                  </a:cubicBezTo>
                  <a:lnTo>
                    <a:pt x="4489857" y="5258471"/>
                  </a:lnTo>
                  <a:cubicBezTo>
                    <a:pt x="4489857" y="5271168"/>
                    <a:pt x="4479564" y="5281461"/>
                    <a:pt x="4466866" y="5281461"/>
                  </a:cubicBezTo>
                  <a:lnTo>
                    <a:pt x="22991" y="5281461"/>
                  </a:lnTo>
                  <a:cubicBezTo>
                    <a:pt x="10293" y="5281461"/>
                    <a:pt x="0" y="5271168"/>
                    <a:pt x="0" y="5258471"/>
                  </a:cubicBezTo>
                  <a:lnTo>
                    <a:pt x="0" y="22991"/>
                  </a:lnTo>
                  <a:cubicBezTo>
                    <a:pt x="0" y="10293"/>
                    <a:pt x="10293" y="0"/>
                    <a:pt x="22991" y="0"/>
                  </a:cubicBezTo>
                  <a:close/>
                </a:path>
              </a:pathLst>
            </a:custGeom>
            <a:solidFill>
              <a:srgbClr val="FFFFFF">
                <a:alpha val="49804"/>
              </a:srgbClr>
            </a:solidFill>
            <a:ln w="28575" cap="sq">
              <a:solidFill>
                <a:srgbClr val="000000">
                  <a:alpha val="49804"/>
                </a:srgbClr>
              </a:solidFill>
              <a:prstDash val="solid"/>
              <a:miter/>
            </a:ln>
          </p:spPr>
        </p:sp>
        <p:sp>
          <p:nvSpPr>
            <p:cNvPr name="TextBox 12" id="12"/>
            <p:cNvSpPr txBox="true"/>
            <p:nvPr/>
          </p:nvSpPr>
          <p:spPr>
            <a:xfrm>
              <a:off x="0" y="-47625"/>
              <a:ext cx="4489857" cy="532908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359"/>
                </a:lnSpc>
              </a:pP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1166399" y="1233825"/>
            <a:ext cx="6910753" cy="1085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959"/>
              </a:lnSpc>
            </a:pPr>
            <a:r>
              <a:rPr lang="en-US" sz="6399">
                <a:solidFill>
                  <a:srgbClr val="000000"/>
                </a:solidFill>
                <a:latin typeface="DM Serif Display"/>
                <a:ea typeface="DM Serif Display"/>
                <a:cs typeface="DM Serif Display"/>
                <a:sym typeface="DM Serif Display"/>
              </a:rPr>
              <a:t>How It Works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729971" y="3858477"/>
            <a:ext cx="3899029" cy="44279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3938"/>
              </a:lnSpc>
            </a:pPr>
            <a:r>
              <a:rPr lang="en-US" sz="2461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Pick a case or describe a new</a:t>
            </a:r>
            <a:r>
              <a:rPr lang="en-US" sz="2461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 one; </a:t>
            </a:r>
            <a:r>
              <a:rPr lang="en-US" sz="2461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m</a:t>
            </a:r>
            <a:r>
              <a:rPr lang="en-US" sz="2461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atches say why</a:t>
            </a:r>
          </a:p>
          <a:p>
            <a:pPr algn="ctr" marL="0" indent="0" lvl="0">
              <a:lnSpc>
                <a:spcPts val="3938"/>
              </a:lnSpc>
            </a:pPr>
            <a:r>
              <a:rPr lang="en-US" sz="2461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Arguments </a:t>
            </a:r>
            <a:r>
              <a:rPr lang="en-US" sz="2461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gr</a:t>
            </a:r>
            <a:r>
              <a:rPr lang="en-US" sz="2461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oupe</a:t>
            </a:r>
            <a:r>
              <a:rPr lang="en-US" sz="2461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d b</a:t>
            </a:r>
            <a:r>
              <a:rPr lang="en-US" sz="2461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y</a:t>
            </a:r>
            <a:r>
              <a:rPr lang="en-US" sz="2461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 the</a:t>
            </a:r>
            <a:r>
              <a:rPr lang="en-US" sz="2461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 </a:t>
            </a:r>
            <a:r>
              <a:rPr lang="en-US" sz="2461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fi</a:t>
            </a:r>
            <a:r>
              <a:rPr lang="en-US" sz="2461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ve labels, with author and p</a:t>
            </a:r>
            <a:r>
              <a:rPr lang="en-US" sz="2461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age</a:t>
            </a:r>
          </a:p>
          <a:p>
            <a:pPr algn="ctr" marL="0" indent="0" lvl="0">
              <a:lnSpc>
                <a:spcPts val="3938"/>
              </a:lnSpc>
            </a:pPr>
            <a:r>
              <a:rPr lang="en-US" sz="2461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Go</a:t>
            </a:r>
            <a:r>
              <a:rPr lang="en-US" sz="2461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od outcomes first, each confirmed with a so</a:t>
            </a:r>
            <a:r>
              <a:rPr lang="en-US" sz="2461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u</a:t>
            </a:r>
            <a:r>
              <a:rPr lang="en-US" sz="2461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rce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3671125" y="9142095"/>
            <a:ext cx="3450476" cy="2736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 marL="0" indent="0" lvl="0">
              <a:lnSpc>
                <a:spcPts val="2239"/>
              </a:lnSpc>
              <a:spcBef>
                <a:spcPct val="0"/>
              </a:spcBef>
            </a:pPr>
            <a:r>
              <a:rPr lang="en-US" sz="1599" spc="159">
                <a:solidFill>
                  <a:srgbClr val="000000">
                    <a:alpha val="49804"/>
                  </a:srgbClr>
                </a:solidFill>
                <a:latin typeface="Open Sauce"/>
                <a:ea typeface="Open Sauce"/>
                <a:cs typeface="Open Sauce"/>
                <a:sym typeface="Open Sauce"/>
              </a:rPr>
              <a:t>4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6976778" y="3858477"/>
            <a:ext cx="4334063" cy="34373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3936"/>
              </a:lnSpc>
            </a:pPr>
            <a:r>
              <a:rPr lang="en-US" sz="2460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Rules R1–R4 run as</a:t>
            </a:r>
            <a:r>
              <a:rPr lang="en-US" sz="246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 transparent code, no AI</a:t>
            </a:r>
          </a:p>
          <a:p>
            <a:pPr algn="ctr" marL="0" indent="0" lvl="0">
              <a:lnSpc>
                <a:spcPts val="3936"/>
              </a:lnSpc>
            </a:pPr>
            <a:r>
              <a:rPr lang="en-US" sz="246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Sensitivity analysis: 10 legal readings, 3–8 of </a:t>
            </a:r>
            <a:r>
              <a:rPr lang="en-US" sz="246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13</a:t>
            </a:r>
          </a:p>
          <a:p>
            <a:pPr algn="ctr" marL="0" indent="0" lvl="0">
              <a:lnSpc>
                <a:spcPts val="3936"/>
              </a:lnSpc>
            </a:pPr>
            <a:r>
              <a:rPr lang="en-US" sz="246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Pa</a:t>
            </a:r>
            <a:r>
              <a:rPr lang="en-US" sz="246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ste a news story: Gemini suggests inputs with checked quotes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2438327" y="3858477"/>
            <a:ext cx="4276833" cy="39326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3936"/>
              </a:lnSpc>
            </a:pPr>
            <a:r>
              <a:rPr lang="en-US" sz="2460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Letter built on</a:t>
            </a:r>
            <a:r>
              <a:rPr lang="en-US" sz="246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ly from numbered sources</a:t>
            </a:r>
          </a:p>
          <a:p>
            <a:pPr algn="ctr" marL="0" indent="0" lvl="0">
              <a:lnSpc>
                <a:spcPts val="3936"/>
              </a:lnSpc>
            </a:pPr>
            <a:r>
              <a:rPr lang="en-US" sz="246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Code rejects uncited sentences and invented quotes</a:t>
            </a:r>
          </a:p>
          <a:p>
            <a:pPr algn="ctr" marL="0" indent="0" lvl="0">
              <a:lnSpc>
                <a:spcPts val="3936"/>
              </a:lnSpc>
            </a:pPr>
            <a:r>
              <a:rPr lang="en-US" sz="246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A second check fla</a:t>
            </a:r>
            <a:r>
              <a:rPr lang="en-US" sz="246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g</a:t>
            </a:r>
            <a:r>
              <a:rPr lang="en-US" sz="246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s weak sentences; a named lawyer approves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14168232" y="3059434"/>
            <a:ext cx="817023" cy="6089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5120"/>
              </a:lnSpc>
            </a:pPr>
            <a:r>
              <a:rPr lang="en-US" b="true" sz="3200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3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8735298" y="3059434"/>
            <a:ext cx="817023" cy="6089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5120"/>
              </a:lnSpc>
            </a:pPr>
            <a:r>
              <a:rPr lang="en-US" b="true" sz="3200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2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3270974" y="3059434"/>
            <a:ext cx="817023" cy="6089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5120"/>
              </a:lnSpc>
            </a:pPr>
            <a:r>
              <a:rPr lang="en-US" b="true" sz="3200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1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50000"/>
            </a:blip>
            <a:stretch>
              <a:fillRect l="-1049" t="-1049" r="-1049" b="-1049"/>
            </a:stretch>
          </a:blipFill>
          <a:ln cap="sq">
            <a:noFill/>
            <a:prstDash val="solid"/>
            <a:miter/>
          </a:ln>
        </p:spPr>
      </p:sp>
      <p:sp>
        <p:nvSpPr>
          <p:cNvPr name="TextBox 3" id="3"/>
          <p:cNvSpPr txBox="true"/>
          <p:nvPr/>
        </p:nvSpPr>
        <p:spPr>
          <a:xfrm rot="0">
            <a:off x="13671125" y="9142095"/>
            <a:ext cx="3450476" cy="2736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 marL="0" indent="0" lvl="0">
              <a:lnSpc>
                <a:spcPts val="2239"/>
              </a:lnSpc>
              <a:spcBef>
                <a:spcPct val="0"/>
              </a:spcBef>
            </a:pPr>
            <a:r>
              <a:rPr lang="en-US" sz="1599" spc="159">
                <a:solidFill>
                  <a:srgbClr val="000000">
                    <a:alpha val="49804"/>
                  </a:srgbClr>
                </a:solidFill>
                <a:latin typeface="Open Sauce"/>
                <a:ea typeface="Open Sauce"/>
                <a:cs typeface="Open Sauce"/>
                <a:sym typeface="Open Sauce"/>
              </a:rPr>
              <a:t>4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6494044" y="-114300"/>
            <a:ext cx="5299912" cy="1085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959"/>
              </a:lnSpc>
            </a:pPr>
            <a:r>
              <a:rPr lang="en-US" sz="6399">
                <a:solidFill>
                  <a:srgbClr val="000000"/>
                </a:solidFill>
                <a:latin typeface="DM Serif Display"/>
                <a:ea typeface="DM Serif Display"/>
                <a:cs typeface="DM Serif Display"/>
                <a:sym typeface="DM Serif Display"/>
              </a:rPr>
              <a:t>Product Demo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1434775" y="509874"/>
            <a:ext cx="6541284" cy="8121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287"/>
              </a:lnSpc>
            </a:pPr>
            <a:r>
              <a:rPr lang="en-US" sz="6287">
                <a:solidFill>
                  <a:srgbClr val="0B0B0B"/>
                </a:solidFill>
                <a:latin typeface="DM Serif Display"/>
                <a:ea typeface="DM Serif Display"/>
                <a:cs typeface="DM Serif Display"/>
                <a:sym typeface="DM Serif Display"/>
              </a:rPr>
              <a:t>SERVICE PIPELINE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384882" y="1474318"/>
            <a:ext cx="11530509" cy="7938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75"/>
              </a:lnSpc>
            </a:pPr>
            <a:r>
              <a:rPr lang="en-US" sz="2047">
                <a:solidFill>
                  <a:srgbClr val="222222"/>
                </a:solidFill>
                <a:latin typeface="Open Sauce"/>
                <a:ea typeface="Open Sauce"/>
                <a:cs typeface="Open Sauce"/>
                <a:sym typeface="Open Sauce"/>
              </a:rPr>
              <a:t>AI is used in two places only: suggesting case facts from a news story, and drafting the letter. Both are checked by code against the sources, then approved by a person.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524000" y="3638550"/>
            <a:ext cx="3486150" cy="4076700"/>
          </a:xfrm>
          <a:custGeom>
            <a:avLst/>
            <a:gdLst/>
            <a:ahLst/>
            <a:cxnLst/>
            <a:rect r="r" b="b" t="t" l="l"/>
            <a:pathLst>
              <a:path h="4076700" w="3486150">
                <a:moveTo>
                  <a:pt x="0" y="0"/>
                </a:moveTo>
                <a:lnTo>
                  <a:pt x="3486150" y="0"/>
                </a:lnTo>
                <a:lnTo>
                  <a:pt x="3486150" y="4076700"/>
                </a:lnTo>
                <a:lnTo>
                  <a:pt x="0" y="40767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2047189" y="3063646"/>
            <a:ext cx="1556909" cy="58192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962"/>
              </a:lnSpc>
            </a:pPr>
            <a:r>
              <a:rPr lang="en-US" sz="3102" b="true">
                <a:solidFill>
                  <a:srgbClr val="0B0B0B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Phase 1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2034856" y="3749713"/>
            <a:ext cx="2790163" cy="12045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75"/>
              </a:lnSpc>
            </a:pPr>
            <a:r>
              <a:rPr lang="en-US" sz="2047" b="true">
                <a:solidFill>
                  <a:srgbClr val="222222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TrialWatch reports</a:t>
            </a:r>
          </a:p>
          <a:p>
            <a:pPr algn="l">
              <a:lnSpc>
                <a:spcPts val="3275"/>
              </a:lnSpc>
            </a:pPr>
            <a:r>
              <a:rPr lang="en-US" sz="2047">
                <a:solidFill>
                  <a:srgbClr val="222222"/>
                </a:solidFill>
                <a:latin typeface="Open Sauce"/>
                <a:ea typeface="Open Sauce"/>
                <a:cs typeface="Open Sauce"/>
                <a:sym typeface="Open Sauce"/>
              </a:rPr>
              <a:t>96 cfj.org listings, 94</a:t>
            </a:r>
          </a:p>
          <a:p>
            <a:pPr algn="l">
              <a:lnSpc>
                <a:spcPts val="3275"/>
              </a:lnSpc>
            </a:pPr>
            <a:r>
              <a:rPr lang="en-US" sz="2047">
                <a:solidFill>
                  <a:srgbClr val="222222"/>
                </a:solidFill>
                <a:latin typeface="Open Sauce"/>
                <a:ea typeface="Open Sauce"/>
                <a:cs typeface="Open Sauce"/>
                <a:sym typeface="Open Sauce"/>
              </a:rPr>
              <a:t>PDFs</a:t>
            </a:r>
          </a:p>
        </p:txBody>
      </p:sp>
      <p:sp>
        <p:nvSpPr>
          <p:cNvPr name="Freeform 8" id="8"/>
          <p:cNvSpPr/>
          <p:nvPr/>
        </p:nvSpPr>
        <p:spPr>
          <a:xfrm flipH="false" flipV="false" rot="0">
            <a:off x="4572000" y="3638550"/>
            <a:ext cx="6972300" cy="4076700"/>
          </a:xfrm>
          <a:custGeom>
            <a:avLst/>
            <a:gdLst/>
            <a:ahLst/>
            <a:cxnLst/>
            <a:rect r="r" b="b" t="t" l="l"/>
            <a:pathLst>
              <a:path h="4076700" w="6972300">
                <a:moveTo>
                  <a:pt x="0" y="0"/>
                </a:moveTo>
                <a:lnTo>
                  <a:pt x="6972300" y="0"/>
                </a:lnTo>
                <a:lnTo>
                  <a:pt x="6972300" y="4076700"/>
                </a:lnTo>
                <a:lnTo>
                  <a:pt x="0" y="407670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9" id="9"/>
          <p:cNvSpPr txBox="true"/>
          <p:nvPr/>
        </p:nvSpPr>
        <p:spPr>
          <a:xfrm rot="0">
            <a:off x="7698816" y="3063646"/>
            <a:ext cx="1643427" cy="58192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962"/>
              </a:lnSpc>
            </a:pPr>
            <a:r>
              <a:rPr lang="en-US" sz="3102" b="true">
                <a:solidFill>
                  <a:srgbClr val="0B0B0B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Phase 3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7792083" y="3689438"/>
            <a:ext cx="3032358" cy="12045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75"/>
              </a:lnSpc>
            </a:pPr>
            <a:r>
              <a:rPr lang="en-US" sz="2047" b="true">
                <a:solidFill>
                  <a:srgbClr val="222222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People confirm</a:t>
            </a:r>
          </a:p>
          <a:p>
            <a:pPr algn="l">
              <a:lnSpc>
                <a:spcPts val="3275"/>
              </a:lnSpc>
            </a:pPr>
            <a:r>
              <a:rPr lang="en-US" sz="2047">
                <a:solidFill>
                  <a:srgbClr val="222222"/>
                </a:solidFill>
                <a:latin typeface="Open Sauce"/>
                <a:ea typeface="Open Sauce"/>
                <a:cs typeface="Open Sauce"/>
                <a:sym typeface="Open Sauce"/>
              </a:rPr>
              <a:t>47/47 outcomes • 288 impact sentences</a:t>
            </a:r>
          </a:p>
        </p:txBody>
      </p:sp>
      <p:sp>
        <p:nvSpPr>
          <p:cNvPr name="Freeform 11" id="11"/>
          <p:cNvSpPr/>
          <p:nvPr/>
        </p:nvSpPr>
        <p:spPr>
          <a:xfrm flipH="false" flipV="false" rot="0">
            <a:off x="11096625" y="3638550"/>
            <a:ext cx="3276600" cy="4076700"/>
          </a:xfrm>
          <a:custGeom>
            <a:avLst/>
            <a:gdLst/>
            <a:ahLst/>
            <a:cxnLst/>
            <a:rect r="r" b="b" t="t" l="l"/>
            <a:pathLst>
              <a:path h="4076700" w="3276600">
                <a:moveTo>
                  <a:pt x="0" y="0"/>
                </a:moveTo>
                <a:lnTo>
                  <a:pt x="3276600" y="0"/>
                </a:lnTo>
                <a:lnTo>
                  <a:pt x="3276600" y="4076700"/>
                </a:lnTo>
                <a:lnTo>
                  <a:pt x="0" y="407670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TextBox 12" id="12"/>
          <p:cNvSpPr txBox="true"/>
          <p:nvPr/>
        </p:nvSpPr>
        <p:spPr>
          <a:xfrm rot="0">
            <a:off x="14422895" y="3063646"/>
            <a:ext cx="1640967" cy="58192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962"/>
              </a:lnSpc>
            </a:pPr>
            <a:r>
              <a:rPr lang="en-US" sz="3102" b="true">
                <a:solidFill>
                  <a:srgbClr val="0B0B0B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Phase 5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14406545" y="3689438"/>
            <a:ext cx="3275919" cy="12045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75"/>
              </a:lnSpc>
            </a:pPr>
            <a:r>
              <a:rPr lang="en-US" sz="2047" b="true">
                <a:solidFill>
                  <a:srgbClr val="222222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Sourced UN letter</a:t>
            </a:r>
          </a:p>
          <a:p>
            <a:pPr algn="l">
              <a:lnSpc>
                <a:spcPts val="3275"/>
              </a:lnSpc>
            </a:pPr>
            <a:r>
              <a:rPr lang="en-US" sz="2047">
                <a:solidFill>
                  <a:srgbClr val="222222"/>
                </a:solidFill>
                <a:latin typeface="Open Sauce"/>
                <a:ea typeface="Open Sauce"/>
                <a:cs typeface="Open Sauce"/>
                <a:sym typeface="Open Sauce"/>
              </a:rPr>
              <a:t>citation check • support check • lawyer approves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5153912" y="7026753"/>
            <a:ext cx="1637687" cy="58192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962"/>
              </a:lnSpc>
            </a:pPr>
            <a:r>
              <a:rPr lang="en-US" sz="3102" b="true">
                <a:solidFill>
                  <a:srgbClr val="0B0B0B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Phase 2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5134660" y="7788164"/>
            <a:ext cx="3562945" cy="161533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275"/>
              </a:lnSpc>
            </a:pPr>
            <a:r>
              <a:rPr lang="en-US" sz="2047" b="true">
                <a:solidFill>
                  <a:srgbClr val="222222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Parse, no AI</a:t>
            </a:r>
          </a:p>
          <a:p>
            <a:pPr algn="just">
              <a:lnSpc>
                <a:spcPts val="3275"/>
              </a:lnSpc>
            </a:pPr>
            <a:r>
              <a:rPr lang="en-US" sz="2047">
                <a:solidFill>
                  <a:srgbClr val="222222"/>
                </a:solidFill>
                <a:latin typeface="Open Sauce"/>
                <a:ea typeface="Open Sauce"/>
                <a:cs typeface="Open Sauce"/>
                <a:sym typeface="Open Sauce"/>
              </a:rPr>
              <a:t>63 grades • 47 authors • 2,381 arguments • 154 UN decisions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1610080" y="7026753"/>
            <a:ext cx="1637277" cy="58192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962"/>
              </a:lnSpc>
            </a:pPr>
            <a:r>
              <a:rPr lang="en-US" sz="3102" b="true">
                <a:solidFill>
                  <a:srgbClr val="0B0B0B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Phase 4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1595069" y="7788164"/>
            <a:ext cx="3138421" cy="12045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75"/>
              </a:lnSpc>
            </a:pPr>
            <a:r>
              <a:rPr lang="en-US" sz="2047" b="true">
                <a:solidFill>
                  <a:srgbClr val="222222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Match current case</a:t>
            </a:r>
          </a:p>
          <a:p>
            <a:pPr algn="l">
              <a:lnSpc>
                <a:spcPts val="3275"/>
              </a:lnSpc>
            </a:pPr>
            <a:r>
              <a:rPr lang="en-US" sz="2047">
                <a:solidFill>
                  <a:srgbClr val="222222"/>
                </a:solidFill>
                <a:latin typeface="Open Sauce"/>
                <a:ea typeface="Open Sauce"/>
                <a:cs typeface="Open Sauce"/>
                <a:sym typeface="Open Sauce"/>
              </a:rPr>
              <a:t>stress test + closet</a:t>
            </a:r>
          </a:p>
          <a:p>
            <a:pPr algn="l">
              <a:lnSpc>
                <a:spcPts val="3275"/>
              </a:lnSpc>
            </a:pPr>
            <a:r>
              <a:rPr lang="en-US" sz="2047">
                <a:solidFill>
                  <a:srgbClr val="222222"/>
                </a:solidFill>
                <a:latin typeface="Open Sauce"/>
                <a:ea typeface="Open Sauce"/>
                <a:cs typeface="Open Sauce"/>
                <a:sym typeface="Open Sauce"/>
              </a:rPr>
              <a:t>past trials, with reasons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16877109" y="9133945"/>
            <a:ext cx="223421" cy="2822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474"/>
              </a:lnSpc>
            </a:pPr>
            <a:r>
              <a:rPr lang="en-US" sz="1546" b="true">
                <a:solidFill>
                  <a:srgbClr val="222222">
                    <a:alpha val="49804"/>
                  </a:srgbClr>
                </a:solidFill>
                <a:latin typeface="Open Sauce Semi-Bold"/>
                <a:ea typeface="Open Sauce Semi-Bold"/>
                <a:cs typeface="Open Sauce Semi-Bold"/>
                <a:sym typeface="Open Sauce Semi-Bold"/>
              </a:rPr>
              <a:t>10</a:t>
            </a: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207818" y="1924030"/>
            <a:ext cx="5895474" cy="3224936"/>
          </a:xfrm>
          <a:custGeom>
            <a:avLst/>
            <a:gdLst/>
            <a:ahLst/>
            <a:cxnLst/>
            <a:rect r="r" b="b" t="t" l="l"/>
            <a:pathLst>
              <a:path h="3224936" w="5895474">
                <a:moveTo>
                  <a:pt x="0" y="0"/>
                </a:moveTo>
                <a:lnTo>
                  <a:pt x="5895474" y="0"/>
                </a:lnTo>
                <a:lnTo>
                  <a:pt x="5895474" y="3224936"/>
                </a:lnTo>
                <a:lnTo>
                  <a:pt x="0" y="322493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521535" y="780360"/>
            <a:ext cx="12140256" cy="77573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255"/>
              </a:lnSpc>
            </a:pPr>
            <a:r>
              <a:rPr lang="en-US" b="true" sz="5211" spc="-104">
                <a:solidFill>
                  <a:srgbClr val="440F0F"/>
                </a:solidFill>
                <a:latin typeface="Open Sauce Semi-Bold"/>
                <a:ea typeface="Open Sauce Semi-Bold"/>
                <a:cs typeface="Open Sauce Semi-Bold"/>
                <a:sym typeface="Open Sauce Semi-Bold"/>
              </a:rPr>
              <a:t>WHY TRIALWATCH LAWYERS USE IT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569097" y="2946480"/>
            <a:ext cx="3052759" cy="120432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880"/>
              </a:lnSpc>
            </a:pPr>
            <a:r>
              <a:rPr lang="en-US" b="true" sz="3755" spc="-75">
                <a:solidFill>
                  <a:srgbClr val="440F0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TrialWatch</a:t>
            </a:r>
          </a:p>
          <a:p>
            <a:pPr algn="ctr">
              <a:lnSpc>
                <a:spcPts val="4880"/>
              </a:lnSpc>
            </a:pPr>
            <a:r>
              <a:rPr lang="en-US" b="true" sz="3755" spc="-75">
                <a:solidFill>
                  <a:srgbClr val="440F0F"/>
                </a:solidFill>
                <a:latin typeface="Open Sauce Medium"/>
                <a:ea typeface="Open Sauce Medium"/>
                <a:cs typeface="Open Sauce Medium"/>
                <a:sym typeface="Open Sauce Medium"/>
              </a:rPr>
              <a:t>legal monitor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6106165" y="2384547"/>
            <a:ext cx="2853070" cy="36952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64"/>
              </a:lnSpc>
            </a:pPr>
            <a:r>
              <a:rPr lang="en-US" sz="2109" spc="-42" b="true">
                <a:solidFill>
                  <a:srgbClr val="642F2F"/>
                </a:solidFill>
                <a:latin typeface="Open Sauce Heavy"/>
                <a:ea typeface="Open Sauce Heavy"/>
                <a:cs typeface="Open Sauce Heavy"/>
                <a:sym typeface="Open Sauce Heavy"/>
              </a:rPr>
              <a:t>Our user (illustrative)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6085166" y="3123142"/>
            <a:ext cx="4952911" cy="11037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71"/>
              </a:lnSpc>
            </a:pPr>
            <a:r>
              <a:rPr lang="en-US" sz="2047" spc="-40" b="true">
                <a:solidFill>
                  <a:srgbClr val="642F2F"/>
                </a:solidFill>
                <a:latin typeface="Open Sauce Medium"/>
                <a:ea typeface="Open Sauce Medium"/>
                <a:cs typeface="Open Sauce Medium"/>
                <a:sym typeface="Open Sauce Medium"/>
              </a:rPr>
              <a:t>Reviews new speech prosecutions and drafts UN submissions under time pressure.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2021107" y="2384547"/>
            <a:ext cx="718231" cy="36952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64"/>
              </a:lnSpc>
            </a:pPr>
            <a:r>
              <a:rPr lang="en-US" sz="2109" spc="-42" b="true">
                <a:solidFill>
                  <a:srgbClr val="642F2F"/>
                </a:solidFill>
                <a:latin typeface="Open Sauce Heavy"/>
                <a:ea typeface="Open Sauce Heavy"/>
                <a:cs typeface="Open Sauce Heavy"/>
                <a:sym typeface="Open Sauce Heavy"/>
              </a:rPr>
              <a:t>Goal:</a:t>
            </a:r>
          </a:p>
        </p:txBody>
      </p:sp>
      <p:sp>
        <p:nvSpPr>
          <p:cNvPr name="Freeform 9" id="9"/>
          <p:cNvSpPr/>
          <p:nvPr/>
        </p:nvSpPr>
        <p:spPr>
          <a:xfrm flipH="false" flipV="false" rot="0">
            <a:off x="11965952" y="2776725"/>
            <a:ext cx="885962" cy="229572"/>
          </a:xfrm>
          <a:custGeom>
            <a:avLst/>
            <a:gdLst/>
            <a:ahLst/>
            <a:cxnLst/>
            <a:rect r="r" b="b" t="t" l="l"/>
            <a:pathLst>
              <a:path h="229572" w="885962">
                <a:moveTo>
                  <a:pt x="0" y="0"/>
                </a:moveTo>
                <a:lnTo>
                  <a:pt x="885962" y="0"/>
                </a:lnTo>
                <a:lnTo>
                  <a:pt x="885962" y="229571"/>
                </a:lnTo>
                <a:lnTo>
                  <a:pt x="0" y="22957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10" id="10"/>
          <p:cNvSpPr txBox="true"/>
          <p:nvPr/>
        </p:nvSpPr>
        <p:spPr>
          <a:xfrm rot="0">
            <a:off x="12007994" y="2748294"/>
            <a:ext cx="4944335" cy="147855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71"/>
              </a:lnSpc>
            </a:pPr>
            <a:r>
              <a:rPr lang="en-US" sz="2047" spc="-40" b="true">
                <a:solidFill>
                  <a:srgbClr val="642F2F"/>
                </a:solidFill>
                <a:latin typeface="Open Sauce Medium"/>
                <a:ea typeface="Open Sauce Medium"/>
                <a:cs typeface="Open Sauce Medium"/>
                <a:sym typeface="Open Sauce Medium"/>
              </a:rPr>
              <a:t>  “Show me how we argued a case like this, what happened, and give me a draft I can check.”</a:t>
            </a:r>
          </a:p>
          <a:p>
            <a:pPr algn="l">
              <a:lnSpc>
                <a:spcPts val="3071"/>
              </a:lnSpc>
            </a:pPr>
          </a:p>
        </p:txBody>
      </p:sp>
      <p:sp>
        <p:nvSpPr>
          <p:cNvPr name="TextBox 11" id="11"/>
          <p:cNvSpPr txBox="true"/>
          <p:nvPr/>
        </p:nvSpPr>
        <p:spPr>
          <a:xfrm rot="0">
            <a:off x="526822" y="5231046"/>
            <a:ext cx="895912" cy="36952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64"/>
              </a:lnSpc>
            </a:pPr>
            <a:r>
              <a:rPr lang="en-US" sz="2109" spc="-42" b="true">
                <a:solidFill>
                  <a:srgbClr val="642F2F"/>
                </a:solidFill>
                <a:latin typeface="Open Sauce Heavy"/>
                <a:ea typeface="Open Sauce Heavy"/>
                <a:cs typeface="Open Sauce Heavy"/>
                <a:sym typeface="Open Sauce Heavy"/>
              </a:rPr>
              <a:t>Needs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486261" y="6029885"/>
            <a:ext cx="4952075" cy="11037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71"/>
              </a:lnSpc>
            </a:pPr>
            <a:r>
              <a:rPr lang="en-US" sz="2047" spc="-40" b="true">
                <a:solidFill>
                  <a:srgbClr val="642F2F"/>
                </a:solidFill>
                <a:latin typeface="Open Sauce Medium"/>
                <a:ea typeface="Open Sauce Medium"/>
                <a:cs typeface="Open Sauce Medium"/>
                <a:sym typeface="Open Sauce Medium"/>
              </a:rPr>
              <a:t>Find precedent fast, cite TrialWatch’s own findings, act the day a complaint is filed.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6119546" y="5231046"/>
            <a:ext cx="1514959" cy="36952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64"/>
              </a:lnSpc>
            </a:pPr>
            <a:r>
              <a:rPr lang="en-US" sz="2109" spc="-42" b="true">
                <a:solidFill>
                  <a:srgbClr val="642F2F"/>
                </a:solidFill>
                <a:latin typeface="Open Sauce Heavy"/>
                <a:ea typeface="Open Sauce Heavy"/>
                <a:cs typeface="Open Sauce Heavy"/>
                <a:sym typeface="Open Sauce Heavy"/>
              </a:rPr>
              <a:t>Pain points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6085009" y="6029270"/>
            <a:ext cx="4968652" cy="7622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64"/>
              </a:lnSpc>
            </a:pPr>
            <a:r>
              <a:rPr lang="en-US" sz="2109" spc="-42" b="true">
                <a:solidFill>
                  <a:srgbClr val="642F2F"/>
                </a:solidFill>
                <a:latin typeface="Open Sauce Medium"/>
                <a:ea typeface="Open Sauce Medium"/>
                <a:cs typeface="Open Sauce Medium"/>
                <a:sym typeface="Open Sauce Medium"/>
              </a:rPr>
              <a:t>90 reports to read, sources in several languages, letters from scratch.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2007994" y="6029884"/>
            <a:ext cx="4708450" cy="11037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71"/>
              </a:lnSpc>
            </a:pPr>
            <a:r>
              <a:rPr lang="en-US" sz="2047" spc="-40" b="true">
                <a:solidFill>
                  <a:srgbClr val="642F2F"/>
                </a:solidFill>
                <a:latin typeface="Open Sauce Medium"/>
                <a:ea typeface="Open Sauce Medium"/>
                <a:cs typeface="Open Sauce Medium"/>
                <a:sym typeface="Open Sauce Medium"/>
              </a:rPr>
              <a:t>Minutes, not a day: closest cases, arguments with page links, a sourced draft to approve.</a:t>
            </a:r>
          </a:p>
        </p:txBody>
      </p:sp>
      <p:sp>
        <p:nvSpPr>
          <p:cNvPr name="Freeform 16" id="16"/>
          <p:cNvSpPr/>
          <p:nvPr/>
        </p:nvSpPr>
        <p:spPr>
          <a:xfrm flipH="false" flipV="false" rot="0">
            <a:off x="426574" y="7925691"/>
            <a:ext cx="1760986" cy="1727254"/>
          </a:xfrm>
          <a:custGeom>
            <a:avLst/>
            <a:gdLst/>
            <a:ahLst/>
            <a:cxnLst/>
            <a:rect r="r" b="b" t="t" l="l"/>
            <a:pathLst>
              <a:path h="1727254" w="1760986">
                <a:moveTo>
                  <a:pt x="0" y="0"/>
                </a:moveTo>
                <a:lnTo>
                  <a:pt x="1760986" y="0"/>
                </a:lnTo>
                <a:lnTo>
                  <a:pt x="1760986" y="1727254"/>
                </a:lnTo>
                <a:lnTo>
                  <a:pt x="0" y="172725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Freeform 17" id="17"/>
          <p:cNvSpPr/>
          <p:nvPr/>
        </p:nvSpPr>
        <p:spPr>
          <a:xfrm flipH="false" flipV="false" rot="0">
            <a:off x="864086" y="8352038"/>
            <a:ext cx="885962" cy="863627"/>
          </a:xfrm>
          <a:custGeom>
            <a:avLst/>
            <a:gdLst/>
            <a:ahLst/>
            <a:cxnLst/>
            <a:rect r="r" b="b" t="t" l="l"/>
            <a:pathLst>
              <a:path h="863627" w="885962">
                <a:moveTo>
                  <a:pt x="0" y="0"/>
                </a:moveTo>
                <a:lnTo>
                  <a:pt x="885962" y="0"/>
                </a:lnTo>
                <a:lnTo>
                  <a:pt x="885962" y="863627"/>
                </a:lnTo>
                <a:lnTo>
                  <a:pt x="0" y="86362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TextBox 18" id="18"/>
          <p:cNvSpPr txBox="true"/>
          <p:nvPr/>
        </p:nvSpPr>
        <p:spPr>
          <a:xfrm rot="0">
            <a:off x="2293153" y="8259710"/>
            <a:ext cx="1070609" cy="4982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139"/>
              </a:lnSpc>
            </a:pPr>
            <a:r>
              <a:rPr lang="en-US" b="true" sz="2759" spc="-55">
                <a:solidFill>
                  <a:srgbClr val="440F0F"/>
                </a:solidFill>
                <a:latin typeface="Open Sauce Heavy"/>
                <a:ea typeface="Open Sauce Heavy"/>
                <a:cs typeface="Open Sauce Heavy"/>
                <a:sym typeface="Open Sauce Heavy"/>
              </a:rPr>
              <a:t>EASY:</a:t>
            </a:r>
          </a:p>
        </p:txBody>
      </p:sp>
      <p:sp>
        <p:nvSpPr>
          <p:cNvPr name="Freeform 19" id="19"/>
          <p:cNvSpPr/>
          <p:nvPr/>
        </p:nvSpPr>
        <p:spPr>
          <a:xfrm flipH="false" flipV="false" rot="0">
            <a:off x="6311110" y="7925691"/>
            <a:ext cx="1750048" cy="1727254"/>
          </a:xfrm>
          <a:custGeom>
            <a:avLst/>
            <a:gdLst/>
            <a:ahLst/>
            <a:cxnLst/>
            <a:rect r="r" b="b" t="t" l="l"/>
            <a:pathLst>
              <a:path h="1727254" w="1750048">
                <a:moveTo>
                  <a:pt x="0" y="0"/>
                </a:moveTo>
                <a:lnTo>
                  <a:pt x="1750048" y="0"/>
                </a:lnTo>
                <a:lnTo>
                  <a:pt x="1750048" y="1727254"/>
                </a:lnTo>
                <a:lnTo>
                  <a:pt x="0" y="172725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sp>
        <p:nvSpPr>
          <p:cNvPr name="Freeform 20" id="20"/>
          <p:cNvSpPr/>
          <p:nvPr/>
        </p:nvSpPr>
        <p:spPr>
          <a:xfrm flipH="false" flipV="false" rot="0">
            <a:off x="6529866" y="8352038"/>
            <a:ext cx="1093780" cy="1082267"/>
          </a:xfrm>
          <a:custGeom>
            <a:avLst/>
            <a:gdLst/>
            <a:ahLst/>
            <a:cxnLst/>
            <a:rect r="r" b="b" t="t" l="l"/>
            <a:pathLst>
              <a:path h="1082267" w="1093780">
                <a:moveTo>
                  <a:pt x="0" y="0"/>
                </a:moveTo>
                <a:lnTo>
                  <a:pt x="1093780" y="0"/>
                </a:lnTo>
                <a:lnTo>
                  <a:pt x="1093780" y="1082267"/>
                </a:lnTo>
                <a:lnTo>
                  <a:pt x="0" y="1082267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  <p:sp>
        <p:nvSpPr>
          <p:cNvPr name="TextBox 21" id="21"/>
          <p:cNvSpPr txBox="true"/>
          <p:nvPr/>
        </p:nvSpPr>
        <p:spPr>
          <a:xfrm rot="0">
            <a:off x="8120864" y="8063919"/>
            <a:ext cx="2301143" cy="4982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139"/>
              </a:lnSpc>
            </a:pPr>
            <a:r>
              <a:rPr lang="en-US" b="true" sz="2759" spc="-55">
                <a:solidFill>
                  <a:srgbClr val="440F0F"/>
                </a:solidFill>
                <a:latin typeface="Open Sauce Heavy"/>
                <a:ea typeface="Open Sauce Heavy"/>
                <a:cs typeface="Open Sauce Heavy"/>
                <a:sym typeface="Open Sauce Heavy"/>
              </a:rPr>
              <a:t>CHECKABLE: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8118029" y="8630862"/>
            <a:ext cx="2584576" cy="9096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30"/>
              </a:lnSpc>
            </a:pPr>
            <a:r>
              <a:rPr lang="en-US" sz="2487" spc="-49" b="true">
                <a:solidFill>
                  <a:srgbClr val="642F2F"/>
                </a:solidFill>
                <a:latin typeface="Open Sauce Semi-Bold"/>
                <a:ea typeface="Open Sauce Semi-Bold"/>
                <a:cs typeface="Open Sauce Semi-Bold"/>
                <a:sym typeface="Open Sauce Semi-Bold"/>
              </a:rPr>
              <a:t>every claim links to its page</a:t>
            </a:r>
          </a:p>
        </p:txBody>
      </p:sp>
      <p:sp>
        <p:nvSpPr>
          <p:cNvPr name="Freeform 23" id="23"/>
          <p:cNvSpPr/>
          <p:nvPr/>
        </p:nvSpPr>
        <p:spPr>
          <a:xfrm flipH="false" flipV="false" rot="0">
            <a:off x="11965952" y="7925691"/>
            <a:ext cx="1750048" cy="1727254"/>
          </a:xfrm>
          <a:custGeom>
            <a:avLst/>
            <a:gdLst/>
            <a:ahLst/>
            <a:cxnLst/>
            <a:rect r="r" b="b" t="t" l="l"/>
            <a:pathLst>
              <a:path h="1727254" w="1750048">
                <a:moveTo>
                  <a:pt x="0" y="0"/>
                </a:moveTo>
                <a:lnTo>
                  <a:pt x="1750048" y="0"/>
                </a:lnTo>
                <a:lnTo>
                  <a:pt x="1750048" y="1727254"/>
                </a:lnTo>
                <a:lnTo>
                  <a:pt x="0" y="1727254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0" t="0" r="0" b="0"/>
            </a:stretch>
          </a:blipFill>
        </p:spPr>
      </p:sp>
      <p:sp>
        <p:nvSpPr>
          <p:cNvPr name="Freeform 24" id="24"/>
          <p:cNvSpPr/>
          <p:nvPr/>
        </p:nvSpPr>
        <p:spPr>
          <a:xfrm flipH="false" flipV="false" rot="0">
            <a:off x="12403464" y="8352038"/>
            <a:ext cx="885962" cy="1082267"/>
          </a:xfrm>
          <a:custGeom>
            <a:avLst/>
            <a:gdLst/>
            <a:ahLst/>
            <a:cxnLst/>
            <a:rect r="r" b="b" t="t" l="l"/>
            <a:pathLst>
              <a:path h="1082267" w="885962">
                <a:moveTo>
                  <a:pt x="0" y="0"/>
                </a:moveTo>
                <a:lnTo>
                  <a:pt x="885962" y="0"/>
                </a:lnTo>
                <a:lnTo>
                  <a:pt x="885962" y="1082267"/>
                </a:lnTo>
                <a:lnTo>
                  <a:pt x="0" y="1082267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 l="0" t="0" r="0" b="0"/>
            </a:stretch>
          </a:blipFill>
        </p:spPr>
      </p:sp>
      <p:sp>
        <p:nvSpPr>
          <p:cNvPr name="TextBox 25" id="25"/>
          <p:cNvSpPr txBox="true"/>
          <p:nvPr/>
        </p:nvSpPr>
        <p:spPr>
          <a:xfrm rot="0">
            <a:off x="13778634" y="7928371"/>
            <a:ext cx="1773290" cy="4982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139"/>
              </a:lnSpc>
            </a:pPr>
            <a:r>
              <a:rPr lang="en-US" b="true" sz="2759" spc="-55">
                <a:solidFill>
                  <a:srgbClr val="440F0F"/>
                </a:solidFill>
                <a:latin typeface="Open Sauce Heavy"/>
                <a:ea typeface="Open Sauce Heavy"/>
                <a:cs typeface="Open Sauce Heavy"/>
                <a:sym typeface="Open Sauce Heavy"/>
              </a:rPr>
              <a:t>SPECIFIC: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13777280" y="8399525"/>
            <a:ext cx="1908724" cy="13140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99"/>
              </a:lnSpc>
            </a:pPr>
            <a:r>
              <a:rPr lang="en-US" sz="2399" spc="-48" b="true">
                <a:solidFill>
                  <a:srgbClr val="642F2F"/>
                </a:solidFill>
                <a:latin typeface="Open Sauce Semi-Bold"/>
                <a:ea typeface="Open Sauce Semi-Bold"/>
                <a:cs typeface="Open Sauce Semi-Bold"/>
                <a:sym typeface="Open Sauce Semi-Bold"/>
              </a:rPr>
              <a:t>built from</a:t>
            </a:r>
          </a:p>
          <a:p>
            <a:pPr algn="l">
              <a:lnSpc>
                <a:spcPts val="3599"/>
              </a:lnSpc>
            </a:pPr>
            <a:r>
              <a:rPr lang="en-US" sz="2399" spc="-48" b="true">
                <a:solidFill>
                  <a:srgbClr val="642F2F"/>
                </a:solidFill>
                <a:latin typeface="Open Sauce Semi-Bold"/>
                <a:ea typeface="Open Sauce Semi-Bold"/>
                <a:cs typeface="Open Sauce Semi-Bold"/>
                <a:sym typeface="Open Sauce Semi-Bold"/>
              </a:rPr>
              <a:t>TrialWatch’s</a:t>
            </a:r>
          </a:p>
          <a:p>
            <a:pPr algn="l">
              <a:lnSpc>
                <a:spcPts val="3599"/>
              </a:lnSpc>
            </a:pPr>
            <a:r>
              <a:rPr lang="en-US" sz="2399" spc="-48" b="true">
                <a:solidFill>
                  <a:srgbClr val="642F2F"/>
                </a:solidFill>
                <a:latin typeface="Open Sauce Semi-Bold"/>
                <a:ea typeface="Open Sauce Semi-Bold"/>
                <a:cs typeface="Open Sauce Semi-Bold"/>
                <a:sym typeface="Open Sauce Semi-Bold"/>
              </a:rPr>
              <a:t>own reports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2277071" y="8846239"/>
            <a:ext cx="2678862" cy="397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67"/>
              </a:lnSpc>
            </a:pPr>
            <a:r>
              <a:rPr lang="en-US" sz="2311" spc="-46" b="true">
                <a:solidFill>
                  <a:srgbClr val="642F2F"/>
                </a:solidFill>
                <a:latin typeface="Open Sauce Semi-Bold"/>
                <a:ea typeface="Open Sauce Semi-Bold"/>
                <a:cs typeface="Open Sauce Semi-Bold"/>
                <a:sym typeface="Open Sauce Semi-Bold"/>
              </a:rPr>
              <a:t>web app, no install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12010586" y="5231046"/>
            <a:ext cx="1770305" cy="36952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64"/>
              </a:lnSpc>
            </a:pPr>
            <a:r>
              <a:rPr lang="en-US" sz="2109" spc="-42" b="true">
                <a:solidFill>
                  <a:srgbClr val="642F2F"/>
                </a:solidFill>
                <a:latin typeface="Open Sauce Heavy"/>
                <a:ea typeface="Open Sauce Heavy"/>
                <a:cs typeface="Open Sauce Heavy"/>
                <a:sym typeface="Open Sauce Heavy"/>
              </a:rPr>
              <a:t>How we help</a:t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50000"/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AutoShape 3" id="3"/>
          <p:cNvSpPr/>
          <p:nvPr/>
        </p:nvSpPr>
        <p:spPr>
          <a:xfrm>
            <a:off x="1166399" y="1028700"/>
            <a:ext cx="687324" cy="0"/>
          </a:xfrm>
          <a:prstGeom prst="line">
            <a:avLst/>
          </a:prstGeom>
          <a:ln cap="flat" w="76200">
            <a:solidFill>
              <a:srgbClr val="000000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4" id="4"/>
          <p:cNvSpPr txBox="true"/>
          <p:nvPr/>
        </p:nvSpPr>
        <p:spPr>
          <a:xfrm rot="0">
            <a:off x="1166399" y="1233825"/>
            <a:ext cx="7445029" cy="22186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959"/>
              </a:lnSpc>
            </a:pPr>
            <a:r>
              <a:rPr lang="en-US" sz="6399">
                <a:solidFill>
                  <a:srgbClr val="000000"/>
                </a:solidFill>
                <a:latin typeface="DM Serif Display"/>
                <a:ea typeface="DM Serif Display"/>
                <a:cs typeface="DM Serif Display"/>
                <a:sym typeface="DM Serif Display"/>
              </a:rPr>
              <a:t>RESPONSIBLE AI</a:t>
            </a:r>
          </a:p>
          <a:p>
            <a:pPr algn="l">
              <a:lnSpc>
                <a:spcPts val="8959"/>
              </a:lnSpc>
            </a:pPr>
          </a:p>
        </p:txBody>
      </p:sp>
      <p:sp>
        <p:nvSpPr>
          <p:cNvPr name="TextBox 5" id="5"/>
          <p:cNvSpPr txBox="true"/>
          <p:nvPr/>
        </p:nvSpPr>
        <p:spPr>
          <a:xfrm rot="0">
            <a:off x="1166399" y="9142095"/>
            <a:ext cx="3450476" cy="2736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239"/>
              </a:lnSpc>
              <a:spcBef>
                <a:spcPct val="0"/>
              </a:spcBef>
            </a:pPr>
            <a:r>
              <a:rPr lang="en-US" sz="1599" spc="159" strike="noStrike" u="none">
                <a:solidFill>
                  <a:srgbClr val="000000">
                    <a:alpha val="49804"/>
                  </a:srgbClr>
                </a:solidFill>
                <a:latin typeface="Open Sauce"/>
                <a:ea typeface="Open Sauce"/>
                <a:cs typeface="Open Sauce"/>
                <a:sym typeface="Open Sauce"/>
              </a:rPr>
              <a:t>STUDIO SHODWE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3671125" y="9142095"/>
            <a:ext cx="3450476" cy="2736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 marL="0" indent="0" lvl="0">
              <a:lnSpc>
                <a:spcPts val="2239"/>
              </a:lnSpc>
              <a:spcBef>
                <a:spcPct val="0"/>
              </a:spcBef>
            </a:pPr>
            <a:r>
              <a:rPr lang="en-US" sz="1599" spc="159">
                <a:solidFill>
                  <a:srgbClr val="000000">
                    <a:alpha val="49804"/>
                  </a:srgbClr>
                </a:solidFill>
                <a:latin typeface="Open Sauce"/>
                <a:ea typeface="Open Sauce"/>
                <a:cs typeface="Open Sauce"/>
                <a:sym typeface="Open Sauce"/>
              </a:rPr>
              <a:t>7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175924" y="3642063"/>
            <a:ext cx="4833608" cy="9448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840"/>
              </a:lnSpc>
              <a:spcBef>
                <a:spcPct val="0"/>
              </a:spcBef>
            </a:pPr>
            <a:r>
              <a:rPr lang="en-US" b="true" sz="2400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N</a:t>
            </a:r>
            <a:r>
              <a:rPr lang="en-US" b="true" sz="2400" strike="noStrike" u="none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o</a:t>
            </a:r>
            <a:r>
              <a:rPr lang="en-US" b="true" sz="2400" strike="noStrike" u="none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 AI w</a:t>
            </a:r>
            <a:r>
              <a:rPr lang="en-US" b="true" sz="2400" strike="noStrike" u="none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he</a:t>
            </a:r>
            <a:r>
              <a:rPr lang="en-US" b="true" sz="2400" strike="noStrike" u="none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r</a:t>
            </a:r>
            <a:r>
              <a:rPr lang="en-US" b="true" sz="2400" strike="noStrike" u="none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e</a:t>
            </a:r>
            <a:r>
              <a:rPr lang="en-US" b="true" sz="2400" strike="noStrike" u="none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 </a:t>
            </a:r>
            <a:r>
              <a:rPr lang="en-US" b="true" sz="2400" strike="noStrike" u="none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r</a:t>
            </a:r>
            <a:r>
              <a:rPr lang="en-US" b="true" sz="2400" strike="noStrike" u="none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ul</a:t>
            </a:r>
            <a:r>
              <a:rPr lang="en-US" b="true" sz="2400" strike="noStrike" u="none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es will do</a:t>
            </a:r>
          </a:p>
          <a:p>
            <a:pPr algn="l" marL="0" indent="0" lvl="0">
              <a:lnSpc>
                <a:spcPts val="3840"/>
              </a:lnSpc>
              <a:spcBef>
                <a:spcPct val="0"/>
              </a:spcBef>
            </a:pPr>
          </a:p>
        </p:txBody>
      </p:sp>
      <p:sp>
        <p:nvSpPr>
          <p:cNvPr name="TextBox 8" id="8"/>
          <p:cNvSpPr txBox="true"/>
          <p:nvPr/>
        </p:nvSpPr>
        <p:spPr>
          <a:xfrm rot="0">
            <a:off x="1166399" y="4852373"/>
            <a:ext cx="4843133" cy="10610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88620" indent="-194310" lvl="1">
              <a:lnSpc>
                <a:spcPts val="2880"/>
              </a:lnSpc>
              <a:buFont typeface="Arial"/>
              <a:buChar char="•"/>
            </a:pPr>
            <a:r>
              <a:rPr lang="en-US" sz="1800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Stress t</a:t>
            </a:r>
            <a:r>
              <a:rPr lang="en-US" sz="1800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est, par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sing, 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g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ra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d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es and 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m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at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ch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ing are p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l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ain, tes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t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ed code. AI 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o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n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ly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 su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gg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ests inputs and drafts letters.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6731959" y="3642063"/>
            <a:ext cx="4833608" cy="9448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840"/>
              </a:lnSpc>
              <a:spcBef>
                <a:spcPct val="0"/>
              </a:spcBef>
            </a:pPr>
            <a:r>
              <a:rPr lang="en-US" b="true" sz="2400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Every claim has a s</a:t>
            </a:r>
            <a:r>
              <a:rPr lang="en-US" b="true" sz="2400" strike="noStrike" u="none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ou</a:t>
            </a:r>
            <a:r>
              <a:rPr lang="en-US" b="true" sz="2400" strike="noStrike" u="none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rce</a:t>
            </a:r>
          </a:p>
          <a:p>
            <a:pPr algn="l" marL="0" indent="0" lvl="0">
              <a:lnSpc>
                <a:spcPts val="3840"/>
              </a:lnSpc>
              <a:spcBef>
                <a:spcPct val="0"/>
              </a:spcBef>
            </a:pPr>
          </a:p>
        </p:txBody>
      </p:sp>
      <p:sp>
        <p:nvSpPr>
          <p:cNvPr name="TextBox 10" id="10"/>
          <p:cNvSpPr txBox="true"/>
          <p:nvPr/>
        </p:nvSpPr>
        <p:spPr>
          <a:xfrm rot="0">
            <a:off x="6722434" y="4852373"/>
            <a:ext cx="4843133" cy="14230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88620" indent="-194310" lvl="1">
              <a:lnSpc>
                <a:spcPts val="2880"/>
              </a:lnSpc>
              <a:buFont typeface="Arial"/>
              <a:buChar char="•"/>
            </a:pPr>
            <a:r>
              <a:rPr lang="en-US" sz="1800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Quotes checked word for word; uncited sente</a:t>
            </a:r>
            <a:r>
              <a:rPr lang="en-US" sz="1800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nces reje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cted; each argument credited to its report's author; a person approves.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2287994" y="3642063"/>
            <a:ext cx="4833608" cy="9448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840"/>
              </a:lnSpc>
              <a:spcBef>
                <a:spcPct val="0"/>
              </a:spcBef>
            </a:pPr>
            <a:r>
              <a:rPr lang="en-US" b="true" sz="2400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H</a:t>
            </a:r>
            <a:r>
              <a:rPr lang="en-US" b="true" sz="2400" strike="noStrike" u="none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o</a:t>
            </a:r>
            <a:r>
              <a:rPr lang="en-US" b="true" sz="2400" strike="noStrike" u="none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ne</a:t>
            </a:r>
            <a:r>
              <a:rPr lang="en-US" b="true" sz="2400" strike="noStrike" u="none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s</a:t>
            </a:r>
            <a:r>
              <a:rPr lang="en-US" b="true" sz="2400" strike="noStrike" u="none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t</a:t>
            </a:r>
            <a:r>
              <a:rPr lang="en-US" b="true" sz="2400" strike="noStrike" u="none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 and </a:t>
            </a:r>
            <a:r>
              <a:rPr lang="en-US" b="true" sz="2400" strike="noStrike" u="none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sa</a:t>
            </a:r>
            <a:r>
              <a:rPr lang="en-US" b="true" sz="2400" strike="noStrike" u="none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fe</a:t>
            </a:r>
          </a:p>
          <a:p>
            <a:pPr algn="l" marL="0" indent="0" lvl="0">
              <a:lnSpc>
                <a:spcPts val="3840"/>
              </a:lnSpc>
              <a:spcBef>
                <a:spcPct val="0"/>
              </a:spcBef>
            </a:pPr>
          </a:p>
        </p:txBody>
      </p:sp>
      <p:sp>
        <p:nvSpPr>
          <p:cNvPr name="TextBox 12" id="12"/>
          <p:cNvSpPr txBox="true"/>
          <p:nvPr/>
        </p:nvSpPr>
        <p:spPr>
          <a:xfrm rot="0">
            <a:off x="12278469" y="4852373"/>
            <a:ext cx="4843133" cy="14230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88620" indent="-194310" lvl="1">
              <a:lnSpc>
                <a:spcPts val="2880"/>
              </a:lnSpc>
              <a:buFont typeface="Arial"/>
              <a:buChar char="•"/>
            </a:pPr>
            <a:r>
              <a:rPr lang="en-US" sz="1800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No predictions: “fo</a:t>
            </a:r>
            <a:r>
              <a:rPr lang="en-US" sz="1800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ll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owed”, never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 “caus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ed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”.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 2 at-r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i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s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k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 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p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eople hid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d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en 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and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 never sent to AI. Onl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y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 cited excerpts p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u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blish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e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d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,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 © CFJ.</a:t>
            </a:r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50000"/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AutoShape 3" id="3"/>
          <p:cNvSpPr/>
          <p:nvPr/>
        </p:nvSpPr>
        <p:spPr>
          <a:xfrm>
            <a:off x="1166399" y="1028700"/>
            <a:ext cx="687324" cy="0"/>
          </a:xfrm>
          <a:prstGeom prst="line">
            <a:avLst/>
          </a:prstGeom>
          <a:ln cap="flat" w="76200">
            <a:solidFill>
              <a:srgbClr val="000000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4" id="4"/>
          <p:cNvSpPr txBox="true"/>
          <p:nvPr/>
        </p:nvSpPr>
        <p:spPr>
          <a:xfrm rot="0">
            <a:off x="1166399" y="1233825"/>
            <a:ext cx="7445029" cy="22186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959"/>
              </a:lnSpc>
            </a:pPr>
            <a:r>
              <a:rPr lang="en-US" sz="6399">
                <a:solidFill>
                  <a:srgbClr val="000000"/>
                </a:solidFill>
                <a:latin typeface="DM Serif Display"/>
                <a:ea typeface="DM Serif Display"/>
                <a:cs typeface="DM Serif Display"/>
                <a:sym typeface="DM Serif Display"/>
              </a:rPr>
              <a:t>VALIDATION</a:t>
            </a:r>
          </a:p>
          <a:p>
            <a:pPr algn="l">
              <a:lnSpc>
                <a:spcPts val="8959"/>
              </a:lnSpc>
            </a:pPr>
          </a:p>
        </p:txBody>
      </p:sp>
      <p:sp>
        <p:nvSpPr>
          <p:cNvPr name="TextBox 5" id="5"/>
          <p:cNvSpPr txBox="true"/>
          <p:nvPr/>
        </p:nvSpPr>
        <p:spPr>
          <a:xfrm rot="0">
            <a:off x="1166399" y="9142095"/>
            <a:ext cx="3450476" cy="2736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239"/>
              </a:lnSpc>
              <a:spcBef>
                <a:spcPct val="0"/>
              </a:spcBef>
            </a:pPr>
            <a:r>
              <a:rPr lang="en-US" sz="1599" spc="159" strike="noStrike" u="none">
                <a:solidFill>
                  <a:srgbClr val="000000">
                    <a:alpha val="49804"/>
                  </a:srgbClr>
                </a:solidFill>
                <a:latin typeface="Open Sauce"/>
                <a:ea typeface="Open Sauce"/>
                <a:cs typeface="Open Sauce"/>
                <a:sym typeface="Open Sauce"/>
              </a:rPr>
              <a:t>STUDIO SHODWE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3671125" y="9142095"/>
            <a:ext cx="3450476" cy="2736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 marL="0" indent="0" lvl="0">
              <a:lnSpc>
                <a:spcPts val="2239"/>
              </a:lnSpc>
              <a:spcBef>
                <a:spcPct val="0"/>
              </a:spcBef>
            </a:pPr>
            <a:r>
              <a:rPr lang="en-US" sz="1599" spc="159">
                <a:solidFill>
                  <a:srgbClr val="000000">
                    <a:alpha val="49804"/>
                  </a:srgbClr>
                </a:solidFill>
                <a:latin typeface="Open Sauce"/>
                <a:ea typeface="Open Sauce"/>
                <a:cs typeface="Open Sauce"/>
                <a:sym typeface="Open Sauce"/>
              </a:rPr>
              <a:t>7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175924" y="3642063"/>
            <a:ext cx="4833608" cy="9448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840"/>
              </a:lnSpc>
              <a:spcBef>
                <a:spcPct val="0"/>
              </a:spcBef>
            </a:pPr>
            <a:r>
              <a:rPr lang="en-US" b="true" sz="2400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S</a:t>
            </a:r>
            <a:r>
              <a:rPr lang="en-US" b="true" sz="2400" strike="noStrike" u="none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ou</a:t>
            </a:r>
            <a:r>
              <a:rPr lang="en-US" b="true" sz="2400" strike="noStrike" u="none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rc</a:t>
            </a:r>
            <a:r>
              <a:rPr lang="en-US" b="true" sz="2400" strike="noStrike" u="none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es check out</a:t>
            </a:r>
          </a:p>
          <a:p>
            <a:pPr algn="l" marL="0" indent="0" lvl="0">
              <a:lnSpc>
                <a:spcPts val="3840"/>
              </a:lnSpc>
              <a:spcBef>
                <a:spcPct val="0"/>
              </a:spcBef>
            </a:pPr>
          </a:p>
        </p:txBody>
      </p:sp>
      <p:sp>
        <p:nvSpPr>
          <p:cNvPr name="TextBox 8" id="8"/>
          <p:cNvSpPr txBox="true"/>
          <p:nvPr/>
        </p:nvSpPr>
        <p:spPr>
          <a:xfrm rot="0">
            <a:off x="1166399" y="4852373"/>
            <a:ext cx="4843133" cy="25088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88620" indent="-194310" lvl="1">
              <a:lnSpc>
                <a:spcPts val="2880"/>
              </a:lnSpc>
              <a:buFont typeface="Arial"/>
              <a:buChar char="•"/>
            </a:pPr>
            <a:r>
              <a:rPr lang="en-US" sz="1800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2,381 / 2</a:t>
            </a:r>
            <a:r>
              <a:rPr lang="en-US" sz="1800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,381 ar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guments on the page they cite</a:t>
            </a:r>
          </a:p>
          <a:p>
            <a:pPr algn="l" marL="388620" indent="-194310" lvl="1">
              <a:lnSpc>
                <a:spcPts val="2880"/>
              </a:lnSpc>
              <a:buFont typeface="Arial"/>
              <a:buChar char="•"/>
            </a:pP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288 / 288 impact sentences on the page they cite</a:t>
            </a:r>
          </a:p>
          <a:p>
            <a:pPr algn="l" marL="388620" indent="-194310" lvl="1">
              <a:lnSpc>
                <a:spcPts val="2880"/>
              </a:lnSpc>
              <a:buFont typeface="Arial"/>
              <a:buChar char="•"/>
            </a:pP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Authors for 47 / 47 reports, each with its source sentence</a:t>
            </a:r>
          </a:p>
          <a:p>
            <a:pPr algn="l">
              <a:lnSpc>
                <a:spcPts val="2880"/>
              </a:lnSpc>
            </a:pP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=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6731959" y="3642063"/>
            <a:ext cx="4833608" cy="9448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840"/>
              </a:lnSpc>
              <a:spcBef>
                <a:spcPct val="0"/>
              </a:spcBef>
            </a:pPr>
            <a:r>
              <a:rPr lang="en-US" b="true" sz="2400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People confirmed the data</a:t>
            </a:r>
          </a:p>
          <a:p>
            <a:pPr algn="l" marL="0" indent="0" lvl="0">
              <a:lnSpc>
                <a:spcPts val="3840"/>
              </a:lnSpc>
              <a:spcBef>
                <a:spcPct val="0"/>
              </a:spcBef>
            </a:pPr>
          </a:p>
        </p:txBody>
      </p:sp>
      <p:sp>
        <p:nvSpPr>
          <p:cNvPr name="TextBox 10" id="10"/>
          <p:cNvSpPr txBox="true"/>
          <p:nvPr/>
        </p:nvSpPr>
        <p:spPr>
          <a:xfrm rot="0">
            <a:off x="6722434" y="4852373"/>
            <a:ext cx="4843133" cy="17849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88620" indent="-194310" lvl="1">
              <a:lnSpc>
                <a:spcPts val="2880"/>
              </a:lnSpc>
              <a:buFont typeface="Arial"/>
              <a:buChar char="•"/>
            </a:pPr>
            <a:r>
              <a:rPr lang="en-US" sz="1800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47 / 47 TrialWatch outcomes confirmed with a source</a:t>
            </a:r>
          </a:p>
          <a:p>
            <a:pPr algn="l" marL="388620" indent="-194310" lvl="1">
              <a:lnSpc>
                <a:spcPts val="2880"/>
              </a:lnSpc>
              <a:buFont typeface="Arial"/>
              <a:buChar char="•"/>
            </a:pPr>
            <a:r>
              <a:rPr lang="en-US" sz="1800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14 of 16 Indonesia</a:t>
            </a:r>
            <a:r>
              <a:rPr lang="en-US" sz="1800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n cases si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gned off by a teammate</a:t>
            </a:r>
          </a:p>
          <a:p>
            <a:pPr algn="l">
              <a:lnSpc>
                <a:spcPts val="2880"/>
              </a:lnSpc>
            </a:pPr>
          </a:p>
        </p:txBody>
      </p:sp>
      <p:sp>
        <p:nvSpPr>
          <p:cNvPr name="TextBox 11" id="11"/>
          <p:cNvSpPr txBox="true"/>
          <p:nvPr/>
        </p:nvSpPr>
        <p:spPr>
          <a:xfrm rot="0">
            <a:off x="12287994" y="3642063"/>
            <a:ext cx="4833608" cy="9448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840"/>
              </a:lnSpc>
              <a:spcBef>
                <a:spcPct val="0"/>
              </a:spcBef>
            </a:pPr>
            <a:r>
              <a:rPr lang="en-US" b="true" sz="2400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W</a:t>
            </a:r>
            <a:r>
              <a:rPr lang="en-US" b="true" sz="2400" strike="noStrike" u="none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e know our limits</a:t>
            </a:r>
          </a:p>
          <a:p>
            <a:pPr algn="l" marL="0" indent="0" lvl="0">
              <a:lnSpc>
                <a:spcPts val="3840"/>
              </a:lnSpc>
              <a:spcBef>
                <a:spcPct val="0"/>
              </a:spcBef>
            </a:pPr>
          </a:p>
        </p:txBody>
      </p:sp>
      <p:sp>
        <p:nvSpPr>
          <p:cNvPr name="TextBox 12" id="12"/>
          <p:cNvSpPr txBox="true"/>
          <p:nvPr/>
        </p:nvSpPr>
        <p:spPr>
          <a:xfrm rot="0">
            <a:off x="12278469" y="4852373"/>
            <a:ext cx="4843133" cy="17849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88620" indent="-194310" lvl="1">
              <a:lnSpc>
                <a:spcPts val="2880"/>
              </a:lnSpc>
              <a:buFont typeface="Arial"/>
              <a:buChar char="•"/>
            </a:pPr>
            <a:r>
              <a:rPr lang="en-US" sz="1800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Headline 5 of 13; 3–8 across </a:t>
            </a:r>
            <a:r>
              <a:rPr lang="en-US" sz="1800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legal r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eadings</a:t>
            </a:r>
          </a:p>
          <a:p>
            <a:pPr algn="l" marL="388620" indent="-194310" lvl="1">
              <a:lnSpc>
                <a:spcPts val="2880"/>
              </a:lnSpc>
              <a:buFont typeface="Arial"/>
              <a:buChar char="•"/>
            </a:pP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Argu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m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ent categori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e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s about 75–80% right in a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 ha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nd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-r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ead sample</a:t>
            </a:r>
          </a:p>
          <a:p>
            <a:pPr algn="l" marL="388620" indent="-194310" lvl="1">
              <a:lnSpc>
                <a:spcPts val="2880"/>
              </a:lnSpc>
              <a:buFont typeface="Arial"/>
              <a:buChar char="•"/>
            </a:pP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155 automated tests on every change</a:t>
            </a:r>
          </a:p>
        </p:txBody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50000"/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AutoShape 3" id="3"/>
          <p:cNvSpPr/>
          <p:nvPr/>
        </p:nvSpPr>
        <p:spPr>
          <a:xfrm>
            <a:off x="1166399" y="1028700"/>
            <a:ext cx="687324" cy="0"/>
          </a:xfrm>
          <a:prstGeom prst="line">
            <a:avLst/>
          </a:prstGeom>
          <a:ln cap="flat" w="76200">
            <a:solidFill>
              <a:srgbClr val="000000"/>
            </a:solidFill>
            <a:prstDash val="solid"/>
            <a:headEnd type="none" len="sm" w="sm"/>
            <a:tailEnd type="none" len="sm" w="sm"/>
          </a:ln>
        </p:spPr>
      </p:sp>
      <p:graphicFrame>
        <p:nvGraphicFramePr>
          <p:cNvPr name="Table 4" id="4"/>
          <p:cNvGraphicFramePr>
            <a:graphicFrameLocks noGrp="true"/>
          </p:cNvGraphicFramePr>
          <p:nvPr/>
        </p:nvGraphicFramePr>
        <p:xfrm>
          <a:off x="1166399" y="2799790"/>
          <a:ext cx="15453593" cy="5803953"/>
        </p:xfrm>
        <a:graphic>
          <a:graphicData uri="http://schemas.openxmlformats.org/drawingml/2006/table">
            <a:tbl>
              <a:tblPr/>
              <a:tblGrid>
                <a:gridCol w="5151198"/>
                <a:gridCol w="5151198"/>
                <a:gridCol w="5151198"/>
              </a:tblGrid>
              <a:tr h="1295793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3359"/>
                        </a:lnSpc>
                        <a:defRPr/>
                      </a:pPr>
                      <a:r>
                        <a:rPr lang="en-US" sz="2400" b="true">
                          <a:solidFill>
                            <a:srgbClr val="FFFFFF"/>
                          </a:solidFill>
                          <a:latin typeface="Open Sauce Bold"/>
                          <a:ea typeface="Open Sauce Bold"/>
                          <a:cs typeface="Open Sauce Bold"/>
                          <a:sym typeface="Open Sauce Bold"/>
                        </a:rPr>
                        <a:t>Today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919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3359"/>
                        </a:lnSpc>
                        <a:defRPr/>
                      </a:pPr>
                      <a:r>
                        <a:rPr lang="en-US" sz="2400" b="true">
                          <a:solidFill>
                            <a:srgbClr val="FFFFFF"/>
                          </a:solidFill>
                          <a:latin typeface="Open Sauce Bold"/>
                          <a:ea typeface="Open Sauce Bold"/>
                          <a:cs typeface="Open Sauce Bold"/>
                          <a:sym typeface="Open Sauce Bold"/>
                        </a:rPr>
                        <a:t>With TrialWatch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919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3359"/>
                        </a:lnSpc>
                        <a:defRPr/>
                      </a:pPr>
                      <a:r>
                        <a:rPr lang="en-US" sz="2400" b="true">
                          <a:solidFill>
                            <a:srgbClr val="FFFFFF"/>
                          </a:solidFill>
                          <a:latin typeface="Open Sauce Bold"/>
                          <a:ea typeface="Open Sauce Bold"/>
                          <a:cs typeface="Open Sauce Bold"/>
                          <a:sym typeface="Open Sauce Bold"/>
                        </a:rPr>
                        <a:t>Next reform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919"/>
                    </a:solidFill>
                  </a:tcPr>
                </a:tc>
              </a:tr>
              <a:tr h="1295793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000000"/>
                          </a:solidFill>
                          <a:latin typeface="Open Sauce"/>
                          <a:ea typeface="Open Sauce"/>
                          <a:cs typeface="Open Sauce"/>
                          <a:sym typeface="Open Sauce"/>
                        </a:rPr>
                        <a:t>DEMO</a:t>
                      </a:r>
                      <a:r>
                        <a:rPr lang="en-US" sz="2100">
                          <a:solidFill>
                            <a:srgbClr val="000000"/>
                          </a:solidFill>
                          <a:latin typeface="Open Sauce"/>
                          <a:ea typeface="Open Sauce"/>
                          <a:cs typeface="Open Sauce"/>
                          <a:sym typeface="Open Sauce"/>
                        </a:rPr>
                        <a:t> &amp; HANDOVER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000000"/>
                          </a:solidFill>
                          <a:latin typeface="Open Sauce"/>
                          <a:ea typeface="Open Sauce"/>
                          <a:cs typeface="Open Sauce"/>
                          <a:sym typeface="Open Sauce"/>
                        </a:rPr>
                        <a:t>LAWYER REVIEW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000000"/>
                          </a:solidFill>
                          <a:latin typeface="Open Sauce"/>
                          <a:ea typeface="Open Sauce"/>
                          <a:cs typeface="Open Sauce"/>
                          <a:sym typeface="Open Sauce"/>
                        </a:rPr>
                        <a:t>SCALE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12367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000000"/>
                          </a:solidFill>
                          <a:latin typeface="Open Sauce"/>
                          <a:ea typeface="Open Sauce"/>
                          <a:cs typeface="Open Sauce"/>
                          <a:sym typeface="Open Sauce"/>
                        </a:rPr>
                        <a:t>Live app, open-source rep</a:t>
                      </a:r>
                      <a:r>
                        <a:rPr lang="en-US" sz="2100">
                          <a:solidFill>
                            <a:srgbClr val="000000"/>
                          </a:solidFill>
                          <a:latin typeface="Open Sauce"/>
                          <a:ea typeface="Open Sauce"/>
                          <a:cs typeface="Open Sauce"/>
                          <a:sym typeface="Open Sauce"/>
                        </a:rPr>
                        <a:t>o and written guide. Every number here recomputed from the data.</a:t>
                      </a:r>
                      <a:endParaRPr lang="en-US" sz="1100"/>
                    </a:p>
                    <a:p>
                      <a:pPr algn="l">
                        <a:lnSpc>
                          <a:spcPts val="2940"/>
                        </a:lnSpc>
                      </a:pPr>
                    </a:p>
                  </a:txBody>
                  <a:tcPr marL="190500" marR="190500" marT="190500" marB="190500" anchor="ctr">
                    <a:lnL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000000"/>
                          </a:solidFill>
                          <a:latin typeface="Open Sauce"/>
                          <a:ea typeface="Open Sauce"/>
                          <a:cs typeface="Open Sauce"/>
                          <a:sym typeface="Open Sauce"/>
                        </a:rPr>
                        <a:t>Confirm rules R1–R4 and the argument categories with TrialWatch lawyers; add the 73-case Indonesia dataset.</a:t>
                      </a:r>
                      <a:endParaRPr lang="en-US" sz="1100"/>
                    </a:p>
                    <a:p>
                      <a:pPr algn="ctr">
                        <a:lnSpc>
                          <a:spcPts val="2940"/>
                        </a:lnSpc>
                      </a:pPr>
                    </a:p>
                  </a:txBody>
                  <a:tcPr marL="190500" marR="190500" marT="190500" marB="190500" anchor="ctr">
                    <a:lnL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000000"/>
                          </a:solidFill>
                          <a:latin typeface="Open Sauce"/>
                          <a:ea typeface="Open Sauce"/>
                          <a:cs typeface="Open Sauce"/>
                          <a:sym typeface="Open Sauce"/>
                        </a:rPr>
                        <a:t>Swap the rules file for the next country's reform; add a live news intake that feeds a review queue.</a:t>
                      </a:r>
                      <a:endParaRPr lang="en-US" sz="1100"/>
                    </a:p>
                    <a:p>
                      <a:pPr algn="ctr">
                        <a:lnSpc>
                          <a:spcPts val="2940"/>
                        </a:lnSpc>
                      </a:pPr>
                    </a:p>
                  </a:txBody>
                  <a:tcPr marL="190500" marR="190500" marT="190500" marB="190500" anchor="ctr">
                    <a:lnL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name="TextBox 5" id="5"/>
          <p:cNvSpPr txBox="true"/>
          <p:nvPr/>
        </p:nvSpPr>
        <p:spPr>
          <a:xfrm rot="0">
            <a:off x="1166399" y="1233825"/>
            <a:ext cx="10399168" cy="22186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959"/>
              </a:lnSpc>
            </a:pPr>
            <a:r>
              <a:rPr lang="en-US" sz="6399">
                <a:solidFill>
                  <a:srgbClr val="000000"/>
                </a:solidFill>
                <a:latin typeface="DM Serif Display"/>
                <a:ea typeface="DM Serif Display"/>
                <a:cs typeface="DM Serif Display"/>
                <a:sym typeface="DM Serif Display"/>
              </a:rPr>
              <a:t>NEXT STEPS</a:t>
            </a:r>
          </a:p>
          <a:p>
            <a:pPr algn="l">
              <a:lnSpc>
                <a:spcPts val="8959"/>
              </a:lnSpc>
            </a:pPr>
          </a:p>
        </p:txBody>
      </p:sp>
      <p:sp>
        <p:nvSpPr>
          <p:cNvPr name="TextBox 6" id="6"/>
          <p:cNvSpPr txBox="true"/>
          <p:nvPr/>
        </p:nvSpPr>
        <p:spPr>
          <a:xfrm rot="0">
            <a:off x="13671125" y="9142095"/>
            <a:ext cx="3450476" cy="2736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 marL="0" indent="0" lvl="0">
              <a:lnSpc>
                <a:spcPts val="2239"/>
              </a:lnSpc>
              <a:spcBef>
                <a:spcPct val="0"/>
              </a:spcBef>
            </a:pPr>
            <a:r>
              <a:rPr lang="en-US" sz="1599" spc="159">
                <a:solidFill>
                  <a:srgbClr val="000000">
                    <a:alpha val="49804"/>
                  </a:srgbClr>
                </a:solidFill>
                <a:latin typeface="Open Sauce"/>
                <a:ea typeface="Open Sauce"/>
                <a:cs typeface="Open Sauce"/>
                <a:sym typeface="Open Sauce"/>
              </a:rPr>
              <a:t>8</a:t>
            </a:r>
          </a:p>
        </p:txBody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50000"/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AutoShape 3" id="3"/>
          <p:cNvSpPr/>
          <p:nvPr/>
        </p:nvSpPr>
        <p:spPr>
          <a:xfrm>
            <a:off x="1166399" y="1028700"/>
            <a:ext cx="687324" cy="0"/>
          </a:xfrm>
          <a:prstGeom prst="line">
            <a:avLst/>
          </a:prstGeom>
          <a:ln cap="flat" w="76200">
            <a:solidFill>
              <a:srgbClr val="000000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4" id="4"/>
          <p:cNvSpPr txBox="true"/>
          <p:nvPr/>
        </p:nvSpPr>
        <p:spPr>
          <a:xfrm rot="0">
            <a:off x="1166399" y="1233825"/>
            <a:ext cx="10399168" cy="22186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959"/>
              </a:lnSpc>
            </a:pPr>
            <a:r>
              <a:rPr lang="en-US" sz="6399">
                <a:solidFill>
                  <a:srgbClr val="000000"/>
                </a:solidFill>
                <a:latin typeface="DM Serif Display"/>
                <a:ea typeface="DM Serif Display"/>
                <a:cs typeface="DM Serif Display"/>
                <a:sym typeface="DM Serif Display"/>
              </a:rPr>
              <a:t>MEET THE TEAM</a:t>
            </a:r>
          </a:p>
          <a:p>
            <a:pPr algn="l">
              <a:lnSpc>
                <a:spcPts val="8959"/>
              </a:lnSpc>
            </a:pPr>
          </a:p>
        </p:txBody>
      </p:sp>
      <p:sp>
        <p:nvSpPr>
          <p:cNvPr name="TextBox 5" id="5"/>
          <p:cNvSpPr txBox="true"/>
          <p:nvPr/>
        </p:nvSpPr>
        <p:spPr>
          <a:xfrm rot="0">
            <a:off x="13671125" y="9142095"/>
            <a:ext cx="3450476" cy="2736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 marL="0" indent="0" lvl="0">
              <a:lnSpc>
                <a:spcPts val="2239"/>
              </a:lnSpc>
              <a:spcBef>
                <a:spcPct val="0"/>
              </a:spcBef>
            </a:pPr>
            <a:r>
              <a:rPr lang="en-US" sz="1599" spc="159">
                <a:solidFill>
                  <a:srgbClr val="000000">
                    <a:alpha val="49804"/>
                  </a:srgbClr>
                </a:solidFill>
                <a:latin typeface="Open Sauce"/>
                <a:ea typeface="Open Sauce"/>
                <a:cs typeface="Open Sauce"/>
                <a:sym typeface="Open Sauce"/>
              </a:rPr>
              <a:t>9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166399" y="5787015"/>
            <a:ext cx="2272954" cy="24936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0" indent="0" lvl="0">
              <a:lnSpc>
                <a:spcPts val="3360"/>
              </a:lnSpc>
              <a:spcBef>
                <a:spcPct val="0"/>
              </a:spcBef>
            </a:pPr>
            <a:r>
              <a:rPr lang="en-US" sz="2100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R</a:t>
            </a:r>
            <a:r>
              <a:rPr lang="en-US" sz="21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ule engine, sensitivity analysis, Argument Bank, UN letter</a:t>
            </a:r>
          </a:p>
          <a:p>
            <a:pPr algn="l" marL="0" indent="0" lvl="0">
              <a:lnSpc>
                <a:spcPts val="3360"/>
              </a:lnSpc>
              <a:spcBef>
                <a:spcPct val="0"/>
              </a:spcBef>
            </a:pPr>
          </a:p>
        </p:txBody>
      </p:sp>
      <p:sp>
        <p:nvSpPr>
          <p:cNvPr name="TextBox 7" id="7"/>
          <p:cNvSpPr txBox="true"/>
          <p:nvPr/>
        </p:nvSpPr>
        <p:spPr>
          <a:xfrm rot="0">
            <a:off x="1169246" y="2905145"/>
            <a:ext cx="2272954" cy="27857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480"/>
              </a:lnSpc>
            </a:pPr>
            <a:r>
              <a:rPr lang="en-US" sz="3200">
                <a:solidFill>
                  <a:srgbClr val="000000"/>
                </a:solidFill>
                <a:latin typeface="DM Serif Display"/>
                <a:ea typeface="DM Serif Display"/>
                <a:cs typeface="DM Serif Display"/>
                <a:sym typeface="DM Serif Display"/>
              </a:rPr>
              <a:t>Shreya</a:t>
            </a:r>
          </a:p>
          <a:p>
            <a:pPr algn="l" marL="0" indent="0" lvl="0">
              <a:lnSpc>
                <a:spcPts val="4480"/>
              </a:lnSpc>
              <a:spcBef>
                <a:spcPct val="0"/>
              </a:spcBef>
            </a:pPr>
            <a:r>
              <a:rPr lang="en-US" sz="3200">
                <a:solidFill>
                  <a:srgbClr val="000000"/>
                </a:solidFill>
                <a:latin typeface="DM Serif Display"/>
                <a:ea typeface="DM Serif Display"/>
                <a:cs typeface="DM Serif Display"/>
                <a:sym typeface="DM Serif Display"/>
              </a:rPr>
              <a:t>St</a:t>
            </a:r>
            <a:r>
              <a:rPr lang="en-US" sz="3200" strike="noStrike" u="none">
                <a:solidFill>
                  <a:srgbClr val="000000"/>
                </a:solidFill>
                <a:latin typeface="DM Serif Display"/>
                <a:ea typeface="DM Serif Display"/>
                <a:cs typeface="DM Serif Display"/>
                <a:sym typeface="DM Serif Display"/>
              </a:rPr>
              <a:t>ress test &amp; A</a:t>
            </a:r>
            <a:r>
              <a:rPr lang="en-US" sz="3200" strike="noStrike" u="none">
                <a:solidFill>
                  <a:srgbClr val="000000"/>
                </a:solidFill>
                <a:latin typeface="DM Serif Display"/>
                <a:ea typeface="DM Serif Display"/>
                <a:cs typeface="DM Serif Display"/>
                <a:sym typeface="DM Serif Display"/>
              </a:rPr>
              <a:t>rgument Ba</a:t>
            </a:r>
            <a:r>
              <a:rPr lang="en-US" sz="3200" strike="noStrike" u="none">
                <a:solidFill>
                  <a:srgbClr val="000000"/>
                </a:solidFill>
                <a:latin typeface="DM Serif Display"/>
                <a:ea typeface="DM Serif Display"/>
                <a:cs typeface="DM Serif Display"/>
                <a:sym typeface="DM Serif Display"/>
              </a:rPr>
              <a:t>nk</a:t>
            </a:r>
          </a:p>
          <a:p>
            <a:pPr algn="l" marL="0" indent="0" lvl="0">
              <a:lnSpc>
                <a:spcPts val="4480"/>
              </a:lnSpc>
              <a:spcBef>
                <a:spcPct val="0"/>
              </a:spcBef>
            </a:pPr>
          </a:p>
        </p:txBody>
      </p:sp>
      <p:sp>
        <p:nvSpPr>
          <p:cNvPr name="TextBox 8" id="8"/>
          <p:cNvSpPr txBox="true"/>
          <p:nvPr/>
        </p:nvSpPr>
        <p:spPr>
          <a:xfrm rot="0">
            <a:off x="8644624" y="5787015"/>
            <a:ext cx="1958445" cy="24936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360"/>
              </a:lnSpc>
              <a:spcBef>
                <a:spcPct val="0"/>
              </a:spcBef>
            </a:pPr>
            <a:r>
              <a:rPr lang="en-US" sz="2100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Confirmed all 47 TrialWatch o</a:t>
            </a:r>
            <a:r>
              <a:rPr lang="en-US" sz="21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utcomes, each with a source</a:t>
            </a:r>
          </a:p>
          <a:p>
            <a:pPr algn="l" marL="0" indent="0" lvl="0">
              <a:lnSpc>
                <a:spcPts val="3360"/>
              </a:lnSpc>
              <a:spcBef>
                <a:spcPct val="0"/>
              </a:spcBef>
            </a:pPr>
          </a:p>
        </p:txBody>
      </p:sp>
      <p:sp>
        <p:nvSpPr>
          <p:cNvPr name="TextBox 9" id="9"/>
          <p:cNvSpPr txBox="true"/>
          <p:nvPr/>
        </p:nvSpPr>
        <p:spPr>
          <a:xfrm rot="0">
            <a:off x="4848328" y="2905145"/>
            <a:ext cx="1901261" cy="22237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480"/>
              </a:lnSpc>
            </a:pPr>
            <a:r>
              <a:rPr lang="en-US" sz="3200">
                <a:solidFill>
                  <a:srgbClr val="000000"/>
                </a:solidFill>
                <a:latin typeface="DM Serif Display"/>
                <a:ea typeface="DM Serif Display"/>
                <a:cs typeface="DM Serif Display"/>
                <a:sym typeface="DM Serif Display"/>
              </a:rPr>
              <a:t>Valentina</a:t>
            </a:r>
          </a:p>
          <a:p>
            <a:pPr algn="l" marL="0" indent="0" lvl="0">
              <a:lnSpc>
                <a:spcPts val="4480"/>
              </a:lnSpc>
              <a:spcBef>
                <a:spcPct val="0"/>
              </a:spcBef>
            </a:pPr>
            <a:r>
              <a:rPr lang="en-US" sz="3200">
                <a:solidFill>
                  <a:srgbClr val="000000"/>
                </a:solidFill>
                <a:latin typeface="DM Serif Display"/>
                <a:ea typeface="DM Serif Display"/>
                <a:cs typeface="DM Serif Display"/>
                <a:sym typeface="DM Serif Display"/>
              </a:rPr>
              <a:t>App &amp; </a:t>
            </a:r>
            <a:r>
              <a:rPr lang="en-US" sz="3200" strike="noStrike" u="none">
                <a:solidFill>
                  <a:srgbClr val="000000"/>
                </a:solidFill>
                <a:latin typeface="DM Serif Display"/>
                <a:ea typeface="DM Serif Display"/>
                <a:cs typeface="DM Serif Display"/>
                <a:sym typeface="DM Serif Display"/>
              </a:rPr>
              <a:t>case data</a:t>
            </a:r>
          </a:p>
          <a:p>
            <a:pPr algn="l" marL="0" indent="0" lvl="0">
              <a:lnSpc>
                <a:spcPts val="4480"/>
              </a:lnSpc>
              <a:spcBef>
                <a:spcPct val="0"/>
              </a:spcBef>
            </a:pPr>
          </a:p>
        </p:txBody>
      </p:sp>
      <p:sp>
        <p:nvSpPr>
          <p:cNvPr name="TextBox 10" id="10"/>
          <p:cNvSpPr txBox="true"/>
          <p:nvPr/>
        </p:nvSpPr>
        <p:spPr>
          <a:xfrm rot="0">
            <a:off x="11512538" y="2905145"/>
            <a:ext cx="2644647" cy="22237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480"/>
              </a:lnSpc>
            </a:pPr>
            <a:r>
              <a:rPr lang="en-US" sz="3200">
                <a:solidFill>
                  <a:srgbClr val="000000"/>
                </a:solidFill>
                <a:latin typeface="DM Serif Display"/>
                <a:ea typeface="DM Serif Display"/>
                <a:cs typeface="DM Serif Display"/>
                <a:sym typeface="DM Serif Display"/>
              </a:rPr>
              <a:t>Ungu</a:t>
            </a:r>
          </a:p>
          <a:p>
            <a:pPr algn="l" marL="0" indent="0" lvl="0">
              <a:lnSpc>
                <a:spcPts val="4480"/>
              </a:lnSpc>
              <a:spcBef>
                <a:spcPct val="0"/>
              </a:spcBef>
            </a:pPr>
            <a:r>
              <a:rPr lang="en-US" sz="3200">
                <a:solidFill>
                  <a:srgbClr val="000000"/>
                </a:solidFill>
                <a:latin typeface="DM Serif Display"/>
                <a:ea typeface="DM Serif Display"/>
                <a:cs typeface="DM Serif Display"/>
                <a:sym typeface="DM Serif Display"/>
              </a:rPr>
              <a:t>Cas</a:t>
            </a:r>
            <a:r>
              <a:rPr lang="en-US" sz="3200">
                <a:solidFill>
                  <a:srgbClr val="000000"/>
                </a:solidFill>
                <a:latin typeface="DM Serif Display"/>
                <a:ea typeface="DM Serif Display"/>
                <a:cs typeface="DM Serif Display"/>
                <a:sym typeface="DM Serif Display"/>
              </a:rPr>
              <a:t>e</a:t>
            </a:r>
            <a:r>
              <a:rPr lang="en-US" sz="3200" strike="noStrike" u="none">
                <a:solidFill>
                  <a:srgbClr val="000000"/>
                </a:solidFill>
                <a:latin typeface="DM Serif Display"/>
                <a:ea typeface="DM Serif Display"/>
                <a:cs typeface="DM Serif Display"/>
                <a:sym typeface="DM Serif Display"/>
              </a:rPr>
              <a:t> research &amp; impacts</a:t>
            </a:r>
          </a:p>
          <a:p>
            <a:pPr algn="l" marL="0" indent="0" lvl="0">
              <a:lnSpc>
                <a:spcPts val="4480"/>
              </a:lnSpc>
              <a:spcBef>
                <a:spcPct val="0"/>
              </a:spcBef>
            </a:pPr>
          </a:p>
        </p:txBody>
      </p:sp>
      <p:sp>
        <p:nvSpPr>
          <p:cNvPr name="TextBox 11" id="11"/>
          <p:cNvSpPr txBox="true"/>
          <p:nvPr/>
        </p:nvSpPr>
        <p:spPr>
          <a:xfrm rot="0">
            <a:off x="4848328" y="5787015"/>
            <a:ext cx="2387321" cy="20745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360"/>
              </a:lnSpc>
              <a:spcBef>
                <a:spcPct val="0"/>
              </a:spcBef>
            </a:pPr>
            <a:r>
              <a:rPr lang="en-US" sz="2100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R</a:t>
            </a:r>
            <a:r>
              <a:rPr lang="en-US" sz="21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epository, case tracker page, case verification</a:t>
            </a:r>
          </a:p>
          <a:p>
            <a:pPr algn="l" marL="0" indent="0" lvl="0">
              <a:lnSpc>
                <a:spcPts val="3360"/>
              </a:lnSpc>
              <a:spcBef>
                <a:spcPct val="0"/>
              </a:spcBef>
            </a:pPr>
          </a:p>
          <a:p>
            <a:pPr algn="l" marL="0" indent="0" lvl="0">
              <a:lnSpc>
                <a:spcPts val="3360"/>
              </a:lnSpc>
              <a:spcBef>
                <a:spcPct val="0"/>
              </a:spcBef>
            </a:pPr>
          </a:p>
        </p:txBody>
      </p:sp>
      <p:sp>
        <p:nvSpPr>
          <p:cNvPr name="TextBox 12" id="12"/>
          <p:cNvSpPr txBox="true"/>
          <p:nvPr/>
        </p:nvSpPr>
        <p:spPr>
          <a:xfrm rot="0">
            <a:off x="8372411" y="2915901"/>
            <a:ext cx="2701830" cy="27857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480"/>
              </a:lnSpc>
            </a:pPr>
            <a:r>
              <a:rPr lang="en-US" sz="3200">
                <a:solidFill>
                  <a:srgbClr val="000000"/>
                </a:solidFill>
                <a:latin typeface="DM Serif Display"/>
                <a:ea typeface="DM Serif Display"/>
                <a:cs typeface="DM Serif Display"/>
                <a:sym typeface="DM Serif Display"/>
              </a:rPr>
              <a:t>Yuki</a:t>
            </a:r>
          </a:p>
          <a:p>
            <a:pPr algn="l" marL="0" indent="0" lvl="0">
              <a:lnSpc>
                <a:spcPts val="4480"/>
              </a:lnSpc>
              <a:spcBef>
                <a:spcPct val="0"/>
              </a:spcBef>
            </a:pPr>
            <a:r>
              <a:rPr lang="en-US" sz="3200">
                <a:solidFill>
                  <a:srgbClr val="000000"/>
                </a:solidFill>
                <a:latin typeface="DM Serif Display"/>
                <a:ea typeface="DM Serif Display"/>
                <a:cs typeface="DM Serif Display"/>
                <a:sym typeface="DM Serif Display"/>
              </a:rPr>
              <a:t>Outcome che</a:t>
            </a:r>
            <a:r>
              <a:rPr lang="en-US" sz="3200" strike="noStrike" u="none">
                <a:solidFill>
                  <a:srgbClr val="000000"/>
                </a:solidFill>
                <a:latin typeface="DM Serif Display"/>
                <a:ea typeface="DM Serif Display"/>
                <a:cs typeface="DM Serif Display"/>
                <a:sym typeface="DM Serif Display"/>
              </a:rPr>
              <a:t>cks</a:t>
            </a:r>
          </a:p>
          <a:p>
            <a:pPr algn="l" marL="0" indent="0" lvl="0">
              <a:lnSpc>
                <a:spcPts val="4480"/>
              </a:lnSpc>
              <a:spcBef>
                <a:spcPct val="0"/>
              </a:spcBef>
            </a:pPr>
          </a:p>
          <a:p>
            <a:pPr algn="l" marL="0" indent="0" lvl="0">
              <a:lnSpc>
                <a:spcPts val="4480"/>
              </a:lnSpc>
              <a:spcBef>
                <a:spcPct val="0"/>
              </a:spcBef>
            </a:pPr>
          </a:p>
        </p:txBody>
      </p:sp>
      <p:sp>
        <p:nvSpPr>
          <p:cNvPr name="TextBox 13" id="13"/>
          <p:cNvSpPr txBox="true"/>
          <p:nvPr/>
        </p:nvSpPr>
        <p:spPr>
          <a:xfrm rot="0">
            <a:off x="11712681" y="5787015"/>
            <a:ext cx="2244362" cy="20745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360"/>
              </a:lnSpc>
              <a:spcBef>
                <a:spcPct val="0"/>
              </a:spcBef>
            </a:pPr>
            <a:r>
              <a:rPr lang="en-US" sz="2100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Indonesian case verification</a:t>
            </a:r>
            <a:r>
              <a:rPr lang="en-US" sz="21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, impact categories</a:t>
            </a:r>
          </a:p>
          <a:p>
            <a:pPr algn="l" marL="0" indent="0" lvl="0">
              <a:lnSpc>
                <a:spcPts val="3360"/>
              </a:lnSpc>
              <a:spcBef>
                <a:spcPct val="0"/>
              </a:spcBef>
            </a:pPr>
          </a:p>
        </p:txBody>
      </p:sp>
      <p:sp>
        <p:nvSpPr>
          <p:cNvPr name="TextBox 14" id="14"/>
          <p:cNvSpPr txBox="true"/>
          <p:nvPr/>
        </p:nvSpPr>
        <p:spPr>
          <a:xfrm rot="0">
            <a:off x="14905655" y="2905145"/>
            <a:ext cx="2644647" cy="27857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480"/>
              </a:lnSpc>
            </a:pPr>
            <a:r>
              <a:rPr lang="en-US" sz="3200">
                <a:solidFill>
                  <a:srgbClr val="000000"/>
                </a:solidFill>
                <a:latin typeface="DM Serif Display"/>
                <a:ea typeface="DM Serif Display"/>
                <a:cs typeface="DM Serif Display"/>
                <a:sym typeface="DM Serif Display"/>
              </a:rPr>
              <a:t>Layla</a:t>
            </a:r>
          </a:p>
          <a:p>
            <a:pPr algn="l" marL="0" indent="0" lvl="0">
              <a:lnSpc>
                <a:spcPts val="4480"/>
              </a:lnSpc>
              <a:spcBef>
                <a:spcPct val="0"/>
              </a:spcBef>
            </a:pPr>
            <a:r>
              <a:rPr lang="en-US" sz="3200">
                <a:solidFill>
                  <a:srgbClr val="000000"/>
                </a:solidFill>
                <a:latin typeface="DM Serif Display"/>
                <a:ea typeface="DM Serif Display"/>
                <a:cs typeface="DM Serif Display"/>
                <a:sym typeface="DM Serif Display"/>
              </a:rPr>
              <a:t>D</a:t>
            </a:r>
            <a:r>
              <a:rPr lang="en-US" sz="3200">
                <a:solidFill>
                  <a:srgbClr val="000000"/>
                </a:solidFill>
                <a:latin typeface="DM Serif Display"/>
                <a:ea typeface="DM Serif Display"/>
                <a:cs typeface="DM Serif Display"/>
                <a:sym typeface="DM Serif Display"/>
              </a:rPr>
              <a:t>ata</a:t>
            </a:r>
            <a:r>
              <a:rPr lang="en-US" sz="3200" strike="noStrike" u="none">
                <a:solidFill>
                  <a:srgbClr val="000000"/>
                </a:solidFill>
                <a:latin typeface="DM Serif Display"/>
                <a:ea typeface="DM Serif Display"/>
                <a:cs typeface="DM Serif Display"/>
                <a:sym typeface="DM Serif Display"/>
              </a:rPr>
              <a:t> lead &amp; pitch</a:t>
            </a:r>
          </a:p>
          <a:p>
            <a:pPr algn="l" marL="0" indent="0" lvl="0">
              <a:lnSpc>
                <a:spcPts val="4480"/>
              </a:lnSpc>
              <a:spcBef>
                <a:spcPct val="0"/>
              </a:spcBef>
            </a:pPr>
          </a:p>
          <a:p>
            <a:pPr algn="l" marL="0" indent="0" lvl="0">
              <a:lnSpc>
                <a:spcPts val="4480"/>
              </a:lnSpc>
              <a:spcBef>
                <a:spcPct val="0"/>
              </a:spcBef>
            </a:pPr>
          </a:p>
        </p:txBody>
      </p:sp>
      <p:sp>
        <p:nvSpPr>
          <p:cNvPr name="TextBox 15" id="15"/>
          <p:cNvSpPr txBox="true"/>
          <p:nvPr/>
        </p:nvSpPr>
        <p:spPr>
          <a:xfrm rot="0">
            <a:off x="14905655" y="5787015"/>
            <a:ext cx="2244362" cy="20745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360"/>
              </a:lnSpc>
              <a:spcBef>
                <a:spcPct val="0"/>
              </a:spcBef>
            </a:pPr>
            <a:r>
              <a:rPr lang="en-US" sz="2100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Meila &amp; Asrul cases, sensitive-case</a:t>
            </a:r>
            <a:r>
              <a:rPr lang="en-US" sz="21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 review, slides</a:t>
            </a:r>
          </a:p>
          <a:p>
            <a:pPr algn="l" marL="0" indent="0" lvl="0">
              <a:lnSpc>
                <a:spcPts val="3360"/>
              </a:lnSpc>
              <a:spcBef>
                <a:spcPct val="0"/>
              </a:spcBef>
            </a:pPr>
          </a:p>
        </p:txBody>
      </p:sp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50000"/>
            </a:blip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4485814" y="2762204"/>
            <a:ext cx="9316373" cy="24536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0160"/>
              </a:lnSpc>
            </a:pPr>
            <a:r>
              <a:rPr lang="en-US" sz="14400">
                <a:solidFill>
                  <a:srgbClr val="000000"/>
                </a:solidFill>
                <a:latin typeface="DM Serif Display"/>
                <a:ea typeface="DM Serif Display"/>
                <a:cs typeface="DM Serif Display"/>
                <a:sym typeface="DM Serif Display"/>
              </a:rPr>
              <a:t>The End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4180543" y="5328331"/>
            <a:ext cx="9926914" cy="4057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59"/>
              </a:lnSpc>
              <a:spcBef>
                <a:spcPct val="0"/>
              </a:spcBef>
            </a:pPr>
            <a:r>
              <a:rPr lang="en-US" sz="2400" spc="240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THANK YOU FOR LISTENING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DAHXn1FiQr0</dc:identifier>
  <dcterms:modified xsi:type="dcterms:W3CDTF">2011-08-01T06:04:30Z</dcterms:modified>
  <cp:revision>1</cp:revision>
  <dc:title>Fradel and Spies Co</dc:title>
</cp:coreProperties>
</file>